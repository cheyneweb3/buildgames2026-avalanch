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The Haus Cashier. This MVP shows a modular Avalanche Fuji cashier system that starts with a wallet-funded balance, lets users spend inside a web application more smoothly than one transaction per action, and then extends that same cashier into social modules like Telegram. In the demo, I will show the core dapp flow first, then the dice gameplay and ledger activity, then the Telegram integration, and finally the withdrawal and future roadmap.</a:t>
            </a:r>
            <a:br>
              <a:rPr lang="en-US"/>
            </a:br>
            <a:br>
              <a:rPr lang="en-US"/>
            </a:br>
            <a:r>
              <a:rPr lang="en-US"/>
              <a:t>[Sources]</a:t>
            </a:r>
            <a:br>
              <a:rPr lang="en-US"/>
            </a:br>
            <a:r>
              <a:rPr lang="en-US"/>
              <a:t>- User-provided architecture diagram.</a:t>
            </a:r>
            <a:br>
              <a:rPr lang="en-US"/>
            </a:br>
            <a:r>
              <a:rPr lang="en-US"/>
              <a:t>- User-provided project links and MVP scope from chat.</a:t>
            </a:r>
            <a:br>
              <a:rPr lang="en-US"/>
            </a:b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problem is friction. Most web3 products still force users through too many direct wallet prompts, and that breaks the experience for games and interactive apps. The Haus Cashier solves that by moving the user from direct wallet ownership into a structured cashier balance that can then power application actions, rewards, and withdrawals more smoothly. The important point is that it stays wallet-rooted and ledger-aware, but it becomes much easier to build usable products on top.</a:t>
            </a:r>
            <a:br>
              <a:rPr lang="en-US"/>
            </a:br>
            <a:br>
              <a:rPr lang="en-US"/>
            </a:br>
            <a:r>
              <a:rPr lang="en-US"/>
              <a:t>[Sources]</a:t>
            </a:r>
            <a:br>
              <a:rPr lang="en-US"/>
            </a:br>
            <a:r>
              <a:rPr lang="en-US"/>
              <a:t>- Claims based on user-provided project description in chat.</a:t>
            </a:r>
            <a:br>
              <a:rPr lang="en-US"/>
            </a:b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sets up the live dapp walkthrough. I will show the flow in a simple order: connect wallet, deposit into the cashier, review the balance and ledger, spend through the dice demo, and then withdraw back to the wallet. That structure is important because it proves the full user loop, not just a single transaction. It shows that The Haus is a usable application layer rather than only a contract demo.</a:t>
            </a:r>
            <a:br>
              <a:rPr lang="en-US"/>
            </a:br>
            <a:br>
              <a:rPr lang="en-US"/>
            </a:br>
            <a:r>
              <a:rPr lang="en-US"/>
              <a:t>[Sources]</a:t>
            </a:r>
            <a:br>
              <a:rPr lang="en-US"/>
            </a:br>
            <a:r>
              <a:rPr lang="en-US"/>
              <a:t>- Claims based on user-provided project description in chat.</a:t>
            </a:r>
            <a:br>
              <a:rPr lang="en-US"/>
            </a:b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 focus on the dice page as the best live proof point. I want to show that the user can play using the cashier balance, see both winning and losing outcomes, and watch those outcomes reflected in the ledger. The message is that The Haus is not building just one game. It is building the balance and settlement pattern that can support many games, including future ideas like weekly leaderboards, tournaments, and other monetised experiences.</a:t>
            </a:r>
            <a:br>
              <a:rPr lang="en-US"/>
            </a:br>
            <a:br>
              <a:rPr lang="en-US"/>
            </a:br>
            <a:r>
              <a:rPr lang="en-US"/>
              <a:t>[Sources]</a:t>
            </a:r>
            <a:br>
              <a:rPr lang="en-US"/>
            </a:br>
            <a:r>
              <a:rPr lang="en-US"/>
              <a:t>- Claims based on user-provided project description in chat.</a:t>
            </a:r>
            <a:br>
              <a:rPr lang="en-US"/>
            </a:b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the core dapp flow, I introduce Telegram as the modular extension. The point is not that Telegram is required. The point is that the cashier is reusable. The same balance model can power notifications, account linking, commands, and community interactions in a social environment. That makes the system much more valuable because it is not trapped in one interface.</a:t>
            </a:r>
            <a:br>
              <a:rPr lang="en-US"/>
            </a:br>
            <a:br>
              <a:rPr lang="en-US"/>
            </a:br>
            <a:r>
              <a:rPr lang="en-US"/>
              <a:t>[Sources]</a:t>
            </a:r>
            <a:br>
              <a:rPr lang="en-US"/>
            </a:br>
            <a:r>
              <a:rPr lang="en-US"/>
              <a:t>- Claims based on user-provided project description in chat.</a:t>
            </a:r>
            <a:br>
              <a:rPr lang="en-US"/>
            </a:br>
            <a:r>
              <a:rPr lang="en-US"/>
              <a:t>- Telegram integration scope from user message.</a:t>
            </a:r>
            <a:br>
              <a:rPr lang="en-US"/>
            </a:b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Telegram feature proof slide. I want to show concrete examples: wallet linking and registration, checking balances, receiving notifications, gifting credits, buying lottery tickets from credited balance, and showing main admin or treasury views. That gives judges a clear sense that The Haus is not only a player-facing frontend. It can also support community mechanics and administration through modular interfaces.</a:t>
            </a:r>
            <a:br>
              <a:rPr lang="en-US"/>
            </a:br>
            <a:br>
              <a:rPr lang="en-US"/>
            </a:br>
            <a:r>
              <a:rPr lang="en-US"/>
              <a:t>[Sources]</a:t>
            </a:r>
            <a:br>
              <a:rPr lang="en-US"/>
            </a:br>
            <a:r>
              <a:rPr lang="en-US"/>
              <a:t>- Claims based on user-provided project description in chat.</a:t>
            </a:r>
            <a:br>
              <a:rPr lang="en-US"/>
            </a:br>
            <a:r>
              <a:rPr lang="en-US"/>
              <a:t>- Telegram integration scope from user message.</a:t>
            </a:r>
            <a:br>
              <a:rPr lang="en-US"/>
            </a:br>
            <a:endParaRPr/>
          </a:p>
        </p:txBody>
      </p:sp>
      <p:sp>
        <p:nvSpPr>
          <p:cNvPr id="107" name="Google Shape;10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helps connect the demo to the real system design. The public MVP presentation is frontend-first, but the architecture matters because it explains why the product is reusable and credible. I can point out that the backend stack supports deposits, balances, ledger activity, relayed execution, indexing, and modular interfaces, while the same value model can be exposed through multiple surfaces like the dapp and Telegram.</a:t>
            </a:r>
            <a:br>
              <a:rPr lang="en-US"/>
            </a:br>
            <a:br>
              <a:rPr lang="en-US"/>
            </a:br>
            <a:r>
              <a:rPr lang="en-US"/>
              <a:t>[Sources]</a:t>
            </a:r>
            <a:br>
              <a:rPr lang="en-US"/>
            </a:br>
            <a:r>
              <a:rPr lang="en-US"/>
              <a:t>- User-provided architecture diagram.</a:t>
            </a:r>
            <a:br>
              <a:rPr lang="en-US"/>
            </a:br>
            <a:r>
              <a:rPr lang="en-US"/>
              <a:t>- Claims based on user-provided project description in chat.</a:t>
            </a:r>
            <a:br>
              <a:rPr lang="en-US"/>
            </a:br>
            <a:endParaRPr/>
          </a:p>
        </p:txBody>
      </p:sp>
      <p:sp>
        <p:nvSpPr>
          <p:cNvPr id="125" name="Google Shape;1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close by showing that this MVP is the first step, not the end state. The roadmap includes cross-chain expansion with CCIP, richer token flows including swaps, more game and reward modules, and eventually an SDK-style layer so builders can create new applications on top of the cashier foundation much faster. The closing message should be that this is infrastructure for usable Avalanche applications, not just a one-off demo.</a:t>
            </a:r>
            <a:br>
              <a:rPr lang="en-US"/>
            </a:br>
            <a:br>
              <a:rPr lang="en-US"/>
            </a:br>
            <a:r>
              <a:rPr lang="en-US"/>
              <a:t>[Sources]</a:t>
            </a:r>
            <a:br>
              <a:rPr lang="en-US"/>
            </a:br>
            <a:r>
              <a:rPr lang="en-US"/>
              <a:t>- Future roadmap claims from user-provided project description in chat.</a:t>
            </a:r>
            <a:br>
              <a:rPr lang="en-US"/>
            </a:br>
            <a:endParaRPr/>
          </a:p>
        </p:txBody>
      </p:sp>
      <p:sp>
        <p:nvSpPr>
          <p:cNvPr id="138" name="Google Shape;1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US_MASTER">
  <p:cSld name="HAUS_MASTER">
    <p:bg>
      <p:bgPr>
        <a:solidFill>
          <a:srgbClr val="0D1F33"/>
        </a:solidFill>
      </p:bgPr>
    </p:bg>
    <p:spTree>
      <p:nvGrpSpPr>
        <p:cNvPr id="10" name="Shape 10"/>
        <p:cNvGrpSpPr/>
        <p:nvPr/>
      </p:nvGrpSpPr>
      <p:grpSpPr>
        <a:xfrm>
          <a:off x="0" y="0"/>
          <a:ext cx="0" cy="0"/>
          <a:chOff x="0" y="0"/>
          <a:chExt cx="0" cy="0"/>
        </a:xfrm>
      </p:grpSpPr>
      <p:sp>
        <p:nvSpPr>
          <p:cNvPr id="11" name="Google Shape;11;p2"/>
          <p:cNvSpPr/>
          <p:nvPr/>
        </p:nvSpPr>
        <p:spPr>
          <a:xfrm>
            <a:off x="0" y="0"/>
            <a:ext cx="12191695" cy="6858000"/>
          </a:xfrm>
          <a:prstGeom prst="rect">
            <a:avLst/>
          </a:prstGeom>
          <a:solidFill>
            <a:srgbClr val="0D1F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502920" y="384048"/>
            <a:ext cx="11155680" cy="0"/>
          </a:xfrm>
          <a:prstGeom prst="straightConnector1">
            <a:avLst/>
          </a:prstGeom>
          <a:noFill/>
          <a:ln cap="flat" cmpd="sng" w="12700">
            <a:solidFill>
              <a:srgbClr val="17456F"/>
            </a:solidFill>
            <a:prstDash val="solid"/>
            <a:round/>
            <a:headEnd len="sm" w="sm" type="none"/>
            <a:tailEnd len="sm" w="sm" type="none"/>
          </a:ln>
        </p:spPr>
      </p:cxnSp>
      <p:sp>
        <p:nvSpPr>
          <p:cNvPr id="13" name="Google Shape;13;p2"/>
          <p:cNvSpPr/>
          <p:nvPr/>
        </p:nvSpPr>
        <p:spPr>
          <a:xfrm>
            <a:off x="658368" y="164592"/>
            <a:ext cx="29260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CBFF"/>
              </a:buClr>
              <a:buSzPts val="1000"/>
              <a:buFont typeface="Arial"/>
              <a:buNone/>
            </a:pPr>
            <a:r>
              <a:rPr b="1" i="0" lang="en-US" sz="1000" u="none" cap="none" strike="noStrike">
                <a:solidFill>
                  <a:srgbClr val="7ACBFF"/>
                </a:solidFill>
                <a:latin typeface="Arial"/>
                <a:ea typeface="Arial"/>
                <a:cs typeface="Arial"/>
                <a:sym typeface="Arial"/>
              </a:rPr>
              <a:t>THE HAUS CASHIER</a:t>
            </a:r>
            <a:endParaRPr b="0" i="0" sz="1000" u="none" cap="none" strike="noStrike">
              <a:solidFill>
                <a:schemeClr val="dk1"/>
              </a:solidFill>
              <a:latin typeface="Arial"/>
              <a:ea typeface="Arial"/>
              <a:cs typeface="Arial"/>
              <a:sym typeface="Arial"/>
            </a:endParaRPr>
          </a:p>
        </p:txBody>
      </p:sp>
      <p:sp>
        <p:nvSpPr>
          <p:cNvPr id="14" name="Google Shape;14;p2"/>
          <p:cNvSpPr/>
          <p:nvPr/>
        </p:nvSpPr>
        <p:spPr>
          <a:xfrm>
            <a:off x="9646920" y="164592"/>
            <a:ext cx="1920240" cy="20116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DB8D0"/>
              </a:buClr>
              <a:buSzPts val="900"/>
              <a:buFont typeface="Arial"/>
              <a:buNone/>
            </a:pPr>
            <a:r>
              <a:rPr b="0" i="0" lang="en-US" sz="900" u="none" cap="none" strike="noStrike">
                <a:solidFill>
                  <a:srgbClr val="9DB8D0"/>
                </a:solidFill>
                <a:latin typeface="Arial"/>
                <a:ea typeface="Arial"/>
                <a:cs typeface="Arial"/>
                <a:sym typeface="Arial"/>
              </a:rPr>
              <a:t>Avalanche Fuji MVP</a:t>
            </a:r>
            <a:endParaRPr b="0" i="0" sz="900" u="none" cap="none" strike="noStrike">
              <a:solidFill>
                <a:schemeClr val="dk1"/>
              </a:solidFill>
              <a:latin typeface="Arial"/>
              <a:ea typeface="Arial"/>
              <a:cs typeface="Arial"/>
              <a:sym typeface="Arial"/>
            </a:endParaRPr>
          </a:p>
        </p:txBody>
      </p:sp>
      <p:cxnSp>
        <p:nvCxnSpPr>
          <p:cNvPr id="15" name="Google Shape;15;p2"/>
          <p:cNvCxnSpPr/>
          <p:nvPr/>
        </p:nvCxnSpPr>
        <p:spPr>
          <a:xfrm>
            <a:off x="502920" y="6510528"/>
            <a:ext cx="11155680" cy="0"/>
          </a:xfrm>
          <a:prstGeom prst="straightConnector1">
            <a:avLst/>
          </a:prstGeom>
          <a:noFill/>
          <a:ln cap="flat" cmpd="sng" w="12700">
            <a:solidFill>
              <a:srgbClr val="17456F"/>
            </a:solidFill>
            <a:prstDash val="solid"/>
            <a:round/>
            <a:headEnd len="sm" w="sm" type="none"/>
            <a:tailEnd len="sm" w="sm" type="none"/>
          </a:ln>
        </p:spPr>
      </p:cxnSp>
      <p:sp>
        <p:nvSpPr>
          <p:cNvPr id="16" name="Google Shape;16;p2"/>
          <p:cNvSpPr/>
          <p:nvPr/>
        </p:nvSpPr>
        <p:spPr>
          <a:xfrm>
            <a:off x="685800" y="6528816"/>
            <a:ext cx="256032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F8FAF"/>
              </a:buClr>
              <a:buSzPts val="800"/>
              <a:buFont typeface="Arial"/>
              <a:buNone/>
            </a:pPr>
            <a:r>
              <a:rPr b="0" i="0" lang="en-US" sz="800" u="none" cap="none" strike="noStrike">
                <a:solidFill>
                  <a:srgbClr val="6F8FAF"/>
                </a:solidFill>
                <a:latin typeface="Arial"/>
                <a:ea typeface="Arial"/>
                <a:cs typeface="Arial"/>
                <a:sym typeface="Arial"/>
              </a:rPr>
              <a:t>BuildGames • Stage 2 MVP</a:t>
            </a:r>
            <a:endParaRPr b="0" i="0" sz="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pic>
        <p:nvPicPr>
          <p:cNvPr descr="/mnt/data/9df6480a-a846-4f85-9d16-ffbf3c1daa77.png" id="23" name="Google Shape;23;p4"/>
          <p:cNvPicPr preferRelativeResize="0"/>
          <p:nvPr/>
        </p:nvPicPr>
        <p:blipFill rotWithShape="1">
          <a:blip r:embed="rId3">
            <a:alphaModFix amt="28000"/>
          </a:blip>
          <a:srcRect b="0" l="20799" r="20799" t="0"/>
          <a:stretch/>
        </p:blipFill>
        <p:spPr>
          <a:xfrm>
            <a:off x="6217920" y="594360"/>
            <a:ext cx="5623560" cy="5303520"/>
          </a:xfrm>
          <a:prstGeom prst="rect">
            <a:avLst/>
          </a:prstGeom>
          <a:noFill/>
          <a:ln>
            <a:noFill/>
          </a:ln>
        </p:spPr>
      </p:pic>
      <p:sp>
        <p:nvSpPr>
          <p:cNvPr id="24" name="Google Shape;24;p4"/>
          <p:cNvSpPr/>
          <p:nvPr/>
        </p:nvSpPr>
        <p:spPr>
          <a:xfrm>
            <a:off x="749808" y="1005840"/>
            <a:ext cx="4389120"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8FC"/>
              </a:buClr>
              <a:buSzPts val="2600"/>
              <a:buFont typeface="Play"/>
              <a:buNone/>
            </a:pPr>
            <a:r>
              <a:rPr b="1" i="0" lang="en-US" sz="2600" u="none" cap="none" strike="noStrike">
                <a:solidFill>
                  <a:srgbClr val="F4F8FC"/>
                </a:solidFill>
                <a:latin typeface="Play"/>
                <a:ea typeface="Play"/>
                <a:cs typeface="Play"/>
                <a:sym typeface="Play"/>
              </a:rPr>
              <a:t>THE HAUS</a:t>
            </a:r>
            <a:endParaRPr b="0" i="0" sz="2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4F8FC"/>
              </a:buClr>
              <a:buSzPts val="2600"/>
              <a:buFont typeface="Play"/>
              <a:buNone/>
            </a:pPr>
            <a:r>
              <a:rPr b="1" i="0" lang="en-US" sz="2600" u="none" cap="none" strike="noStrike">
                <a:solidFill>
                  <a:srgbClr val="F4F8FC"/>
                </a:solidFill>
                <a:latin typeface="Play"/>
                <a:ea typeface="Play"/>
                <a:cs typeface="Play"/>
                <a:sym typeface="Play"/>
              </a:rPr>
              <a:t>CASHIER</a:t>
            </a:r>
            <a:endParaRPr b="0" i="0" sz="2600" u="none" cap="none" strike="noStrike">
              <a:solidFill>
                <a:schemeClr val="dk1"/>
              </a:solidFill>
              <a:latin typeface="Arial"/>
              <a:ea typeface="Arial"/>
              <a:cs typeface="Arial"/>
              <a:sym typeface="Arial"/>
            </a:endParaRPr>
          </a:p>
        </p:txBody>
      </p:sp>
      <p:sp>
        <p:nvSpPr>
          <p:cNvPr id="25" name="Google Shape;25;p4"/>
          <p:cNvSpPr/>
          <p:nvPr/>
        </p:nvSpPr>
        <p:spPr>
          <a:xfrm>
            <a:off x="777240" y="2542032"/>
            <a:ext cx="42976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500"/>
              <a:buFont typeface="Arial"/>
              <a:buNone/>
            </a:pPr>
            <a:r>
              <a:rPr b="0" i="0" lang="en-US" sz="1500" u="none" cap="none" strike="noStrike">
                <a:solidFill>
                  <a:srgbClr val="C7D7E6"/>
                </a:solidFill>
                <a:latin typeface="Arial"/>
                <a:ea typeface="Arial"/>
                <a:cs typeface="Arial"/>
                <a:sym typeface="Arial"/>
              </a:rPr>
              <a:t>Avalanche Fuji MVP</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7D7E6"/>
              </a:buClr>
              <a:buSzPts val="1500"/>
              <a:buFont typeface="Arial"/>
              <a:buNone/>
            </a:pPr>
            <a:r>
              <a:rPr b="0" i="0" lang="en-US" sz="1500" u="none" cap="none" strike="noStrike">
                <a:solidFill>
                  <a:srgbClr val="C7D7E6"/>
                </a:solidFill>
                <a:latin typeface="Arial"/>
                <a:ea typeface="Arial"/>
                <a:cs typeface="Arial"/>
                <a:sym typeface="Arial"/>
              </a:rPr>
              <a:t>Wallet-funded balances for dapps, games, and social modules</a:t>
            </a:r>
            <a:endParaRPr b="0" i="0" sz="1500" u="none" cap="none" strike="noStrike">
              <a:solidFill>
                <a:schemeClr val="dk1"/>
              </a:solidFill>
              <a:latin typeface="Arial"/>
              <a:ea typeface="Arial"/>
              <a:cs typeface="Arial"/>
              <a:sym typeface="Arial"/>
            </a:endParaRPr>
          </a:p>
        </p:txBody>
      </p:sp>
      <p:sp>
        <p:nvSpPr>
          <p:cNvPr id="26" name="Google Shape;26;p4"/>
          <p:cNvSpPr/>
          <p:nvPr/>
        </p:nvSpPr>
        <p:spPr>
          <a:xfrm>
            <a:off x="786384" y="3767328"/>
            <a:ext cx="3611880" cy="502920"/>
          </a:xfrm>
          <a:prstGeom prst="roundRect">
            <a:avLst>
              <a:gd fmla="val 14545" name="adj"/>
            </a:avLst>
          </a:prstGeom>
          <a:solidFill>
            <a:srgbClr val="14304E"/>
          </a:solidFill>
          <a:ln cap="flat" cmpd="sng" w="12700">
            <a:solidFill>
              <a:srgbClr val="2AE6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987552" y="3922776"/>
            <a:ext cx="3200400" cy="1645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F8FC"/>
              </a:buClr>
              <a:buSzPts val="1100"/>
              <a:buFont typeface="Arial"/>
              <a:buNone/>
            </a:pPr>
            <a:r>
              <a:rPr b="1" i="0" lang="en-US" sz="1100" u="none" cap="none" strike="noStrike">
                <a:solidFill>
                  <a:srgbClr val="F4F8FC"/>
                </a:solidFill>
                <a:latin typeface="Arial"/>
                <a:ea typeface="Arial"/>
                <a:cs typeface="Arial"/>
                <a:sym typeface="Arial"/>
              </a:rPr>
              <a:t>3–4 minute walkthrough: deposit → play → social → withdraw</a:t>
            </a:r>
            <a:endParaRPr b="0" i="0" sz="1100" u="none" cap="none" strike="noStrike">
              <a:solidFill>
                <a:schemeClr val="dk1"/>
              </a:solidFill>
              <a:latin typeface="Arial"/>
              <a:ea typeface="Arial"/>
              <a:cs typeface="Arial"/>
              <a:sym typeface="Arial"/>
            </a:endParaRPr>
          </a:p>
        </p:txBody>
      </p:sp>
      <p:sp>
        <p:nvSpPr>
          <p:cNvPr id="28" name="Google Shape;28;p4"/>
          <p:cNvSpPr/>
          <p:nvPr/>
        </p:nvSpPr>
        <p:spPr>
          <a:xfrm>
            <a:off x="786384" y="4480560"/>
            <a:ext cx="356616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200"/>
              <a:buFont typeface="Arial"/>
              <a:buNone/>
            </a:pPr>
            <a:r>
              <a:rPr b="1" i="0" lang="en-US" sz="1200" u="none" cap="none" strike="noStrike">
                <a:solidFill>
                  <a:srgbClr val="66D4FF"/>
                </a:solidFill>
                <a:latin typeface="Arial"/>
                <a:ea typeface="Arial"/>
                <a:cs typeface="Arial"/>
                <a:sym typeface="Arial"/>
              </a:rPr>
              <a:t>BuildGames Stage 2 MVP Presentation</a:t>
            </a:r>
            <a:endParaRPr b="0" i="0" sz="1200" u="none" cap="none" strike="noStrike">
              <a:solidFill>
                <a:schemeClr val="dk1"/>
              </a:solidFill>
              <a:latin typeface="Arial"/>
              <a:ea typeface="Arial"/>
              <a:cs typeface="Arial"/>
              <a:sym typeface="Arial"/>
            </a:endParaRPr>
          </a:p>
        </p:txBody>
      </p:sp>
      <p:sp>
        <p:nvSpPr>
          <p:cNvPr id="29" name="Google Shape;29;p4"/>
          <p:cNvSpPr/>
          <p:nvPr/>
        </p:nvSpPr>
        <p:spPr>
          <a:xfrm>
            <a:off x="786384" y="4754880"/>
            <a:ext cx="20116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6A2BD"/>
              </a:buClr>
              <a:buSzPts val="1050"/>
              <a:buFont typeface="Arial"/>
              <a:buNone/>
            </a:pPr>
            <a:r>
              <a:rPr b="0" i="0" lang="en-US" sz="1050" u="none" cap="none" strike="noStrike">
                <a:solidFill>
                  <a:srgbClr val="86A2BD"/>
                </a:solidFill>
                <a:latin typeface="Arial"/>
                <a:ea typeface="Arial"/>
                <a:cs typeface="Arial"/>
                <a:sym typeface="Arial"/>
              </a:rPr>
              <a:t>Cheyne Hayworth</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5"/>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What The Haus Cashier solves</a:t>
            </a:r>
            <a:endParaRPr b="0" i="0" sz="2400" u="none" cap="none" strike="noStrike">
              <a:solidFill>
                <a:schemeClr val="dk1"/>
              </a:solidFill>
              <a:latin typeface="Arial"/>
              <a:ea typeface="Arial"/>
              <a:cs typeface="Arial"/>
              <a:sym typeface="Arial"/>
            </a:endParaRPr>
          </a:p>
        </p:txBody>
      </p:sp>
      <p:sp>
        <p:nvSpPr>
          <p:cNvPr id="36" name="Google Shape;36;p5"/>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A reusable balance and spend layer for Avalanche applications</a:t>
            </a:r>
            <a:endParaRPr b="0" i="0" sz="1120" u="none" cap="none" strike="noStrike">
              <a:solidFill>
                <a:schemeClr val="dk1"/>
              </a:solidFill>
              <a:latin typeface="Arial"/>
              <a:ea typeface="Arial"/>
              <a:cs typeface="Arial"/>
              <a:sym typeface="Arial"/>
            </a:endParaRPr>
          </a:p>
        </p:txBody>
      </p:sp>
      <p:sp>
        <p:nvSpPr>
          <p:cNvPr id="37" name="Google Shape;37;p5"/>
          <p:cNvSpPr/>
          <p:nvPr/>
        </p:nvSpPr>
        <p:spPr>
          <a:xfrm>
            <a:off x="658368" y="1572768"/>
            <a:ext cx="5486400" cy="3886200"/>
          </a:xfrm>
          <a:prstGeom prst="roundRect">
            <a:avLst>
              <a:gd fmla="val 188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822960" y="1682496"/>
            <a:ext cx="515721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Problem</a:t>
            </a:r>
            <a:endParaRPr b="0" i="0" sz="1150" u="none" cap="none" strike="noStrike">
              <a:solidFill>
                <a:schemeClr val="dk1"/>
              </a:solidFill>
              <a:latin typeface="Arial"/>
              <a:ea typeface="Arial"/>
              <a:cs typeface="Arial"/>
              <a:sym typeface="Arial"/>
            </a:endParaRPr>
          </a:p>
        </p:txBody>
      </p:sp>
      <p:sp>
        <p:nvSpPr>
          <p:cNvPr id="39" name="Google Shape;39;p5"/>
          <p:cNvSpPr/>
          <p:nvPr/>
        </p:nvSpPr>
        <p:spPr>
          <a:xfrm>
            <a:off x="868680" y="1920240"/>
            <a:ext cx="5029200" cy="214884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500"/>
              <a:buFont typeface="Arial"/>
              <a:buNone/>
            </a:pPr>
            <a:r>
              <a:rPr b="1" i="0" lang="en-US" sz="1500" u="none" cap="none" strike="noStrike">
                <a:solidFill>
                  <a:srgbClr val="2AE68B"/>
                </a:solidFill>
                <a:latin typeface="Arial"/>
                <a:ea typeface="Arial"/>
                <a:cs typeface="Arial"/>
                <a:sym typeface="Arial"/>
              </a:rPr>
              <a:t>• </a:t>
            </a:r>
            <a:r>
              <a:rPr b="0" i="0" lang="en-US" sz="1500" u="none" cap="none" strike="noStrike">
                <a:solidFill>
                  <a:srgbClr val="F4F8FC"/>
                </a:solidFill>
                <a:latin typeface="Arial"/>
                <a:ea typeface="Arial"/>
                <a:cs typeface="Arial"/>
                <a:sym typeface="Arial"/>
              </a:rPr>
              <a:t>Most web3 apps still interrupt users with a wallet transaction for every repeated action.</a:t>
            </a:r>
            <a:br>
              <a:rPr b="0" i="0" lang="en-US" sz="1500" u="none" cap="none" strike="noStrike">
                <a:solidFill>
                  <a:srgbClr val="F4F8FC"/>
                </a:solidFill>
                <a:latin typeface="Arial"/>
                <a:ea typeface="Arial"/>
                <a:cs typeface="Arial"/>
                <a:sym typeface="Arial"/>
              </a:rPr>
            </a:br>
            <a:r>
              <a:rPr b="1" i="0" lang="en-US" sz="1500" u="none" cap="none" strike="noStrike">
                <a:solidFill>
                  <a:srgbClr val="2AE68B"/>
                </a:solidFill>
                <a:latin typeface="Arial"/>
                <a:ea typeface="Arial"/>
                <a:cs typeface="Arial"/>
                <a:sym typeface="Arial"/>
              </a:rPr>
              <a:t>• </a:t>
            </a:r>
            <a:r>
              <a:rPr b="0" i="0" lang="en-US" sz="1500" u="none" cap="none" strike="noStrike">
                <a:solidFill>
                  <a:srgbClr val="F4F8FC"/>
                </a:solidFill>
                <a:latin typeface="Arial"/>
                <a:ea typeface="Arial"/>
                <a:cs typeface="Arial"/>
                <a:sym typeface="Arial"/>
              </a:rPr>
              <a:t>That friction is especially bad for games, rewards, social spending, and community tools.</a:t>
            </a:r>
            <a:br>
              <a:rPr b="0" i="0" lang="en-US" sz="1500" u="none" cap="none" strike="noStrike">
                <a:solidFill>
                  <a:srgbClr val="F4F8FC"/>
                </a:solidFill>
                <a:latin typeface="Arial"/>
                <a:ea typeface="Arial"/>
                <a:cs typeface="Arial"/>
                <a:sym typeface="Arial"/>
              </a:rPr>
            </a:br>
            <a:r>
              <a:rPr b="1" i="0" lang="en-US" sz="1500" u="none" cap="none" strike="noStrike">
                <a:solidFill>
                  <a:srgbClr val="2AE68B"/>
                </a:solidFill>
                <a:latin typeface="Arial"/>
                <a:ea typeface="Arial"/>
                <a:cs typeface="Arial"/>
                <a:sym typeface="Arial"/>
              </a:rPr>
              <a:t>• </a:t>
            </a:r>
            <a:r>
              <a:rPr b="0" i="0" lang="en-US" sz="1500" u="none" cap="none" strike="noStrike">
                <a:solidFill>
                  <a:srgbClr val="F4F8FC"/>
                </a:solidFill>
                <a:latin typeface="Arial"/>
                <a:ea typeface="Arial"/>
                <a:cs typeface="Arial"/>
                <a:sym typeface="Arial"/>
              </a:rPr>
              <a:t>Developers keep rebuilding deposits, balances, payouts, and ledger logic from scratch.</a:t>
            </a:r>
            <a:endParaRPr b="0" i="0" sz="1500" u="none" cap="none" strike="noStrike">
              <a:solidFill>
                <a:schemeClr val="dk1"/>
              </a:solidFill>
              <a:latin typeface="Arial"/>
              <a:ea typeface="Arial"/>
              <a:cs typeface="Arial"/>
              <a:sym typeface="Arial"/>
            </a:endParaRPr>
          </a:p>
        </p:txBody>
      </p:sp>
      <p:sp>
        <p:nvSpPr>
          <p:cNvPr id="40" name="Google Shape;40;p5"/>
          <p:cNvSpPr/>
          <p:nvPr/>
        </p:nvSpPr>
        <p:spPr>
          <a:xfrm>
            <a:off x="6355080" y="1572768"/>
            <a:ext cx="5166360" cy="3886200"/>
          </a:xfrm>
          <a:prstGeom prst="roundRect">
            <a:avLst>
              <a:gd fmla="val 188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6519672" y="1682496"/>
            <a:ext cx="483717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The Haus approach</a:t>
            </a:r>
            <a:endParaRPr b="0" i="0" sz="1150" u="none" cap="none" strike="noStrike">
              <a:solidFill>
                <a:schemeClr val="dk1"/>
              </a:solidFill>
              <a:latin typeface="Arial"/>
              <a:ea typeface="Arial"/>
              <a:cs typeface="Arial"/>
              <a:sym typeface="Arial"/>
            </a:endParaRPr>
          </a:p>
        </p:txBody>
      </p:sp>
      <p:sp>
        <p:nvSpPr>
          <p:cNvPr id="42" name="Google Shape;42;p5"/>
          <p:cNvSpPr/>
          <p:nvPr/>
        </p:nvSpPr>
        <p:spPr>
          <a:xfrm>
            <a:off x="6565392" y="1920240"/>
            <a:ext cx="4709160" cy="214884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500"/>
              <a:buFont typeface="Arial"/>
              <a:buNone/>
            </a:pPr>
            <a:r>
              <a:rPr b="1" i="0" lang="en-US" sz="1500" u="none" cap="none" strike="noStrike">
                <a:solidFill>
                  <a:srgbClr val="2AE68B"/>
                </a:solidFill>
                <a:latin typeface="Arial"/>
                <a:ea typeface="Arial"/>
                <a:cs typeface="Arial"/>
                <a:sym typeface="Arial"/>
              </a:rPr>
              <a:t>• </a:t>
            </a:r>
            <a:r>
              <a:rPr b="0" i="0" lang="en-US" sz="1500" u="none" cap="none" strike="noStrike">
                <a:solidFill>
                  <a:srgbClr val="F4F8FC"/>
                </a:solidFill>
                <a:latin typeface="Arial"/>
                <a:ea typeface="Arial"/>
                <a:cs typeface="Arial"/>
                <a:sym typeface="Arial"/>
              </a:rPr>
              <a:t>Bring wallet-backed value into a structured cashier balance.</a:t>
            </a:r>
            <a:br>
              <a:rPr b="0" i="0" lang="en-US" sz="1500" u="none" cap="none" strike="noStrike">
                <a:solidFill>
                  <a:srgbClr val="F4F8FC"/>
                </a:solidFill>
                <a:latin typeface="Arial"/>
                <a:ea typeface="Arial"/>
                <a:cs typeface="Arial"/>
                <a:sym typeface="Arial"/>
              </a:rPr>
            </a:br>
            <a:r>
              <a:rPr b="1" i="0" lang="en-US" sz="1500" u="none" cap="none" strike="noStrike">
                <a:solidFill>
                  <a:srgbClr val="2AE68B"/>
                </a:solidFill>
                <a:latin typeface="Arial"/>
                <a:ea typeface="Arial"/>
                <a:cs typeface="Arial"/>
                <a:sym typeface="Arial"/>
              </a:rPr>
              <a:t>• </a:t>
            </a:r>
            <a:r>
              <a:rPr b="0" i="0" lang="en-US" sz="1500" u="none" cap="none" strike="noStrike">
                <a:solidFill>
                  <a:srgbClr val="F4F8FC"/>
                </a:solidFill>
                <a:latin typeface="Arial"/>
                <a:ea typeface="Arial"/>
                <a:cs typeface="Arial"/>
                <a:sym typeface="Arial"/>
              </a:rPr>
              <a:t>Use signatures and application logic for smoother in-app interaction.</a:t>
            </a:r>
            <a:br>
              <a:rPr b="0" i="0" lang="en-US" sz="1500" u="none" cap="none" strike="noStrike">
                <a:solidFill>
                  <a:srgbClr val="F4F8FC"/>
                </a:solidFill>
                <a:latin typeface="Arial"/>
                <a:ea typeface="Arial"/>
                <a:cs typeface="Arial"/>
                <a:sym typeface="Arial"/>
              </a:rPr>
            </a:br>
            <a:r>
              <a:rPr b="1" i="0" lang="en-US" sz="1500" u="none" cap="none" strike="noStrike">
                <a:solidFill>
                  <a:srgbClr val="2AE68B"/>
                </a:solidFill>
                <a:latin typeface="Arial"/>
                <a:ea typeface="Arial"/>
                <a:cs typeface="Arial"/>
                <a:sym typeface="Arial"/>
              </a:rPr>
              <a:t>• </a:t>
            </a:r>
            <a:r>
              <a:rPr b="0" i="0" lang="en-US" sz="1500" u="none" cap="none" strike="noStrike">
                <a:solidFill>
                  <a:srgbClr val="F4F8FC"/>
                </a:solidFill>
                <a:latin typeface="Arial"/>
                <a:ea typeface="Arial"/>
                <a:cs typeface="Arial"/>
                <a:sym typeface="Arial"/>
              </a:rPr>
              <a:t>Support dapps, games, tipping, lotteries, admin tools, and future SDK modules from one cashier foundation.</a:t>
            </a:r>
            <a:endParaRPr b="0" i="0" sz="1500" u="none" cap="none" strike="noStrike">
              <a:solidFill>
                <a:schemeClr val="dk1"/>
              </a:solidFill>
              <a:latin typeface="Arial"/>
              <a:ea typeface="Arial"/>
              <a:cs typeface="Arial"/>
              <a:sym typeface="Arial"/>
            </a:endParaRPr>
          </a:p>
        </p:txBody>
      </p:sp>
      <p:sp>
        <p:nvSpPr>
          <p:cNvPr id="43" name="Google Shape;43;p5"/>
          <p:cNvSpPr/>
          <p:nvPr/>
        </p:nvSpPr>
        <p:spPr>
          <a:xfrm>
            <a:off x="822960" y="5650992"/>
            <a:ext cx="10515600" cy="274320"/>
          </a:xfrm>
          <a:prstGeom prst="roundRect">
            <a:avLst>
              <a:gd fmla="val 26667" name="adj"/>
            </a:avLst>
          </a:prstGeom>
          <a:solidFill>
            <a:srgbClr val="11243B"/>
          </a:solidFill>
          <a:ln cap="flat" cmpd="sng" w="12700">
            <a:solidFill>
              <a:srgbClr val="66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960120" y="5719572"/>
            <a:ext cx="10241280" cy="731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F8FC"/>
              </a:buClr>
              <a:buSzPts val="1060"/>
              <a:buFont typeface="Arial"/>
              <a:buNone/>
            </a:pPr>
            <a:r>
              <a:rPr b="1" i="0" lang="en-US" sz="1060" u="none" cap="none" strike="noStrike">
                <a:solidFill>
                  <a:srgbClr val="F4F8FC"/>
                </a:solidFill>
                <a:latin typeface="Arial"/>
                <a:ea typeface="Arial"/>
                <a:cs typeface="Arial"/>
                <a:sym typeface="Arial"/>
              </a:rPr>
              <a:t>Core thesis: wallet → cashier balance → app or social module → ledgered settlement → withdraw</a:t>
            </a:r>
            <a:endParaRPr b="0" i="0" sz="106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6"/>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Main MVP demo flow</a:t>
            </a:r>
            <a:endParaRPr b="0" i="0" sz="2400" u="none" cap="none" strike="noStrike">
              <a:solidFill>
                <a:schemeClr val="dk1"/>
              </a:solidFill>
              <a:latin typeface="Arial"/>
              <a:ea typeface="Arial"/>
              <a:cs typeface="Arial"/>
              <a:sym typeface="Arial"/>
            </a:endParaRPr>
          </a:p>
        </p:txBody>
      </p:sp>
      <p:sp>
        <p:nvSpPr>
          <p:cNvPr id="51" name="Google Shape;51;p6"/>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Wallet-first dapp experience on Avalanche Fuji</a:t>
            </a:r>
            <a:endParaRPr b="0" i="0" sz="1120" u="none" cap="none" strike="noStrike">
              <a:solidFill>
                <a:schemeClr val="dk1"/>
              </a:solidFill>
              <a:latin typeface="Arial"/>
              <a:ea typeface="Arial"/>
              <a:cs typeface="Arial"/>
              <a:sym typeface="Arial"/>
            </a:endParaRPr>
          </a:p>
        </p:txBody>
      </p:sp>
      <p:sp>
        <p:nvSpPr>
          <p:cNvPr id="52" name="Google Shape;52;p6"/>
          <p:cNvSpPr/>
          <p:nvPr/>
        </p:nvSpPr>
        <p:spPr>
          <a:xfrm>
            <a:off x="685800" y="1828800"/>
            <a:ext cx="1965960" cy="1280160"/>
          </a:xfrm>
          <a:prstGeom prst="roundRect">
            <a:avLst>
              <a:gd fmla="val 4286" name="adj"/>
            </a:avLst>
          </a:prstGeom>
          <a:solidFill>
            <a:srgbClr val="102845"/>
          </a:solidFill>
          <a:ln cap="flat" cmpd="sng" w="12700">
            <a:solidFill>
              <a:srgbClr val="66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813816" y="1938528"/>
            <a:ext cx="1709928"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1. Connect wallet</a:t>
            </a:r>
            <a:endParaRPr b="0" i="0" sz="1150" u="none" cap="none" strike="noStrike">
              <a:solidFill>
                <a:schemeClr val="dk1"/>
              </a:solidFill>
              <a:latin typeface="Arial"/>
              <a:ea typeface="Arial"/>
              <a:cs typeface="Arial"/>
              <a:sym typeface="Arial"/>
            </a:endParaRPr>
          </a:p>
        </p:txBody>
      </p:sp>
      <p:sp>
        <p:nvSpPr>
          <p:cNvPr id="54" name="Google Shape;54;p6"/>
          <p:cNvSpPr/>
          <p:nvPr/>
        </p:nvSpPr>
        <p:spPr>
          <a:xfrm>
            <a:off x="822960" y="2212848"/>
            <a:ext cx="169164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7E6"/>
              </a:buClr>
              <a:buSzPts val="1050"/>
              <a:buFont typeface="Arial"/>
              <a:buNone/>
            </a:pPr>
            <a:r>
              <a:rPr b="0" i="0" lang="en-US" sz="1050" u="none" cap="none" strike="noStrike">
                <a:solidFill>
                  <a:srgbClr val="C7D7E6"/>
                </a:solidFill>
                <a:latin typeface="Arial"/>
                <a:ea typeface="Arial"/>
                <a:cs typeface="Arial"/>
                <a:sym typeface="Arial"/>
              </a:rPr>
              <a:t>User connects on Fuji and enters the dapp.</a:t>
            </a:r>
            <a:endParaRPr b="0" i="0" sz="1050" u="none" cap="none" strike="noStrike">
              <a:solidFill>
                <a:schemeClr val="dk1"/>
              </a:solidFill>
              <a:latin typeface="Arial"/>
              <a:ea typeface="Arial"/>
              <a:cs typeface="Arial"/>
              <a:sym typeface="Arial"/>
            </a:endParaRPr>
          </a:p>
        </p:txBody>
      </p:sp>
      <p:sp>
        <p:nvSpPr>
          <p:cNvPr id="55" name="Google Shape;55;p6"/>
          <p:cNvSpPr/>
          <p:nvPr/>
        </p:nvSpPr>
        <p:spPr>
          <a:xfrm>
            <a:off x="2788920" y="1828800"/>
            <a:ext cx="1965960" cy="1280160"/>
          </a:xfrm>
          <a:prstGeom prst="roundRect">
            <a:avLst>
              <a:gd fmla="val 4286" name="adj"/>
            </a:avLst>
          </a:prstGeom>
          <a:solidFill>
            <a:srgbClr val="102845"/>
          </a:solidFill>
          <a:ln cap="flat" cmpd="sng" w="12700">
            <a:solidFill>
              <a:srgbClr val="2AE6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2916936" y="1938528"/>
            <a:ext cx="1709928"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AE68B"/>
              </a:buClr>
              <a:buSzPts val="1150"/>
              <a:buFont typeface="Arial"/>
              <a:buNone/>
            </a:pPr>
            <a:r>
              <a:rPr b="1" i="0" lang="en-US" sz="1150" u="none" cap="none" strike="noStrike">
                <a:solidFill>
                  <a:srgbClr val="2AE68B"/>
                </a:solidFill>
                <a:latin typeface="Arial"/>
                <a:ea typeface="Arial"/>
                <a:cs typeface="Arial"/>
                <a:sym typeface="Arial"/>
              </a:rPr>
              <a:t>2. Deposit to cashier</a:t>
            </a:r>
            <a:endParaRPr b="0" i="0" sz="1150" u="none" cap="none" strike="noStrike">
              <a:solidFill>
                <a:schemeClr val="dk1"/>
              </a:solidFill>
              <a:latin typeface="Arial"/>
              <a:ea typeface="Arial"/>
              <a:cs typeface="Arial"/>
              <a:sym typeface="Arial"/>
            </a:endParaRPr>
          </a:p>
        </p:txBody>
      </p:sp>
      <p:sp>
        <p:nvSpPr>
          <p:cNvPr id="57" name="Google Shape;57;p6"/>
          <p:cNvSpPr/>
          <p:nvPr/>
        </p:nvSpPr>
        <p:spPr>
          <a:xfrm>
            <a:off x="2926080" y="2212848"/>
            <a:ext cx="169164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7E6"/>
              </a:buClr>
              <a:buSzPts val="1050"/>
              <a:buFont typeface="Arial"/>
              <a:buNone/>
            </a:pPr>
            <a:r>
              <a:rPr b="0" i="0" lang="en-US" sz="1050" u="none" cap="none" strike="noStrike">
                <a:solidFill>
                  <a:srgbClr val="C7D7E6"/>
                </a:solidFill>
                <a:latin typeface="Arial"/>
                <a:ea typeface="Arial"/>
                <a:cs typeface="Arial"/>
                <a:sym typeface="Arial"/>
              </a:rPr>
              <a:t>Funds move into the cashier flow for application use.</a:t>
            </a:r>
            <a:endParaRPr b="0" i="0" sz="1050" u="none" cap="none" strike="noStrike">
              <a:solidFill>
                <a:schemeClr val="dk1"/>
              </a:solidFill>
              <a:latin typeface="Arial"/>
              <a:ea typeface="Arial"/>
              <a:cs typeface="Arial"/>
              <a:sym typeface="Arial"/>
            </a:endParaRPr>
          </a:p>
        </p:txBody>
      </p:sp>
      <p:sp>
        <p:nvSpPr>
          <p:cNvPr id="58" name="Google Shape;58;p6"/>
          <p:cNvSpPr/>
          <p:nvPr/>
        </p:nvSpPr>
        <p:spPr>
          <a:xfrm>
            <a:off x="4892040" y="1828800"/>
            <a:ext cx="1965960" cy="1280160"/>
          </a:xfrm>
          <a:prstGeom prst="roundRect">
            <a:avLst>
              <a:gd fmla="val 4286" name="adj"/>
            </a:avLst>
          </a:prstGeom>
          <a:solidFill>
            <a:srgbClr val="102845"/>
          </a:solidFill>
          <a:ln cap="flat" cmpd="sng" w="12700">
            <a:solidFill>
              <a:srgbClr val="FFD5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5020056" y="1938528"/>
            <a:ext cx="1709928"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D55C"/>
              </a:buClr>
              <a:buSzPts val="1150"/>
              <a:buFont typeface="Arial"/>
              <a:buNone/>
            </a:pPr>
            <a:r>
              <a:rPr b="1" i="0" lang="en-US" sz="1150" u="none" cap="none" strike="noStrike">
                <a:solidFill>
                  <a:srgbClr val="FFD55C"/>
                </a:solidFill>
                <a:latin typeface="Arial"/>
                <a:ea typeface="Arial"/>
                <a:cs typeface="Arial"/>
                <a:sym typeface="Arial"/>
              </a:rPr>
              <a:t>3. View balance + ledger</a:t>
            </a:r>
            <a:endParaRPr b="0" i="0" sz="1150" u="none" cap="none" strike="noStrike">
              <a:solidFill>
                <a:schemeClr val="dk1"/>
              </a:solidFill>
              <a:latin typeface="Arial"/>
              <a:ea typeface="Arial"/>
              <a:cs typeface="Arial"/>
              <a:sym typeface="Arial"/>
            </a:endParaRPr>
          </a:p>
        </p:txBody>
      </p:sp>
      <p:sp>
        <p:nvSpPr>
          <p:cNvPr id="60" name="Google Shape;60;p6"/>
          <p:cNvSpPr/>
          <p:nvPr/>
        </p:nvSpPr>
        <p:spPr>
          <a:xfrm>
            <a:off x="5029200" y="2212848"/>
            <a:ext cx="169164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7E6"/>
              </a:buClr>
              <a:buSzPts val="1050"/>
              <a:buFont typeface="Arial"/>
              <a:buNone/>
            </a:pPr>
            <a:r>
              <a:rPr b="0" i="0" lang="en-US" sz="1050" u="none" cap="none" strike="noStrike">
                <a:solidFill>
                  <a:srgbClr val="C7D7E6"/>
                </a:solidFill>
                <a:latin typeface="Arial"/>
                <a:ea typeface="Arial"/>
                <a:cs typeface="Arial"/>
                <a:sym typeface="Arial"/>
              </a:rPr>
              <a:t>The dapp shows balances and ledger activity.</a:t>
            </a:r>
            <a:endParaRPr b="0" i="0" sz="1050" u="none" cap="none" strike="noStrike">
              <a:solidFill>
                <a:schemeClr val="dk1"/>
              </a:solidFill>
              <a:latin typeface="Arial"/>
              <a:ea typeface="Arial"/>
              <a:cs typeface="Arial"/>
              <a:sym typeface="Arial"/>
            </a:endParaRPr>
          </a:p>
        </p:txBody>
      </p:sp>
      <p:sp>
        <p:nvSpPr>
          <p:cNvPr id="61" name="Google Shape;61;p6"/>
          <p:cNvSpPr/>
          <p:nvPr/>
        </p:nvSpPr>
        <p:spPr>
          <a:xfrm>
            <a:off x="6995160" y="1828800"/>
            <a:ext cx="1965960" cy="1280160"/>
          </a:xfrm>
          <a:prstGeom prst="roundRect">
            <a:avLst>
              <a:gd fmla="val 4286" name="adj"/>
            </a:avLst>
          </a:prstGeom>
          <a:solidFill>
            <a:srgbClr val="102845"/>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7123176" y="1938528"/>
            <a:ext cx="1709928"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6B6B"/>
              </a:buClr>
              <a:buSzPts val="1150"/>
              <a:buFont typeface="Arial"/>
              <a:buNone/>
            </a:pPr>
            <a:r>
              <a:rPr b="1" i="0" lang="en-US" sz="1150" u="none" cap="none" strike="noStrike">
                <a:solidFill>
                  <a:srgbClr val="FF6B6B"/>
                </a:solidFill>
                <a:latin typeface="Arial"/>
                <a:ea typeface="Arial"/>
                <a:cs typeface="Arial"/>
                <a:sym typeface="Arial"/>
              </a:rPr>
              <a:t>4. Spend in dice</a:t>
            </a:r>
            <a:endParaRPr b="0" i="0" sz="1150" u="none" cap="none" strike="noStrike">
              <a:solidFill>
                <a:schemeClr val="dk1"/>
              </a:solidFill>
              <a:latin typeface="Arial"/>
              <a:ea typeface="Arial"/>
              <a:cs typeface="Arial"/>
              <a:sym typeface="Arial"/>
            </a:endParaRPr>
          </a:p>
        </p:txBody>
      </p:sp>
      <p:sp>
        <p:nvSpPr>
          <p:cNvPr id="63" name="Google Shape;63;p6"/>
          <p:cNvSpPr/>
          <p:nvPr/>
        </p:nvSpPr>
        <p:spPr>
          <a:xfrm>
            <a:off x="7132320" y="2212848"/>
            <a:ext cx="169164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7E6"/>
              </a:buClr>
              <a:buSzPts val="1050"/>
              <a:buFont typeface="Arial"/>
              <a:buNone/>
            </a:pPr>
            <a:r>
              <a:rPr b="0" i="0" lang="en-US" sz="1050" u="none" cap="none" strike="noStrike">
                <a:solidFill>
                  <a:srgbClr val="C7D7E6"/>
                </a:solidFill>
                <a:latin typeface="Arial"/>
                <a:ea typeface="Arial"/>
                <a:cs typeface="Arial"/>
                <a:sym typeface="Arial"/>
              </a:rPr>
              <a:t>Gameplay uses credited spend and settles wins/losses.</a:t>
            </a:r>
            <a:endParaRPr b="0" i="0" sz="1050" u="none" cap="none" strike="noStrike">
              <a:solidFill>
                <a:schemeClr val="dk1"/>
              </a:solidFill>
              <a:latin typeface="Arial"/>
              <a:ea typeface="Arial"/>
              <a:cs typeface="Arial"/>
              <a:sym typeface="Arial"/>
            </a:endParaRPr>
          </a:p>
        </p:txBody>
      </p:sp>
      <p:sp>
        <p:nvSpPr>
          <p:cNvPr id="64" name="Google Shape;64;p6"/>
          <p:cNvSpPr/>
          <p:nvPr/>
        </p:nvSpPr>
        <p:spPr>
          <a:xfrm>
            <a:off x="9098280" y="1828800"/>
            <a:ext cx="1965960" cy="1280160"/>
          </a:xfrm>
          <a:prstGeom prst="roundRect">
            <a:avLst>
              <a:gd fmla="val 4286" name="adj"/>
            </a:avLst>
          </a:prstGeom>
          <a:solidFill>
            <a:srgbClr val="102845"/>
          </a:solidFill>
          <a:ln cap="flat" cmpd="sng" w="12700">
            <a:solidFill>
              <a:srgbClr val="66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9226296" y="1938528"/>
            <a:ext cx="1709928"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5. Withdraw back out</a:t>
            </a:r>
            <a:endParaRPr b="0" i="0" sz="1150" u="none" cap="none" strike="noStrike">
              <a:solidFill>
                <a:schemeClr val="dk1"/>
              </a:solidFill>
              <a:latin typeface="Arial"/>
              <a:ea typeface="Arial"/>
              <a:cs typeface="Arial"/>
              <a:sym typeface="Arial"/>
            </a:endParaRPr>
          </a:p>
        </p:txBody>
      </p:sp>
      <p:sp>
        <p:nvSpPr>
          <p:cNvPr id="66" name="Google Shape;66;p6"/>
          <p:cNvSpPr/>
          <p:nvPr/>
        </p:nvSpPr>
        <p:spPr>
          <a:xfrm>
            <a:off x="9235440" y="2212848"/>
            <a:ext cx="1691640" cy="8046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7E6"/>
              </a:buClr>
              <a:buSzPts val="1050"/>
              <a:buFont typeface="Arial"/>
              <a:buNone/>
            </a:pPr>
            <a:r>
              <a:rPr b="0" i="0" lang="en-US" sz="1050" u="none" cap="none" strike="noStrike">
                <a:solidFill>
                  <a:srgbClr val="C7D7E6"/>
                </a:solidFill>
                <a:latin typeface="Arial"/>
                <a:ea typeface="Arial"/>
                <a:cs typeface="Arial"/>
                <a:sym typeface="Arial"/>
              </a:rPr>
              <a:t>User exits by withdrawing back to the wallet.</a:t>
            </a:r>
            <a:endParaRPr b="0" i="0" sz="1050" u="none" cap="none" strike="noStrike">
              <a:solidFill>
                <a:schemeClr val="dk1"/>
              </a:solidFill>
              <a:latin typeface="Arial"/>
              <a:ea typeface="Arial"/>
              <a:cs typeface="Arial"/>
              <a:sym typeface="Arial"/>
            </a:endParaRPr>
          </a:p>
        </p:txBody>
      </p:sp>
      <p:sp>
        <p:nvSpPr>
          <p:cNvPr id="67" name="Google Shape;67;p6"/>
          <p:cNvSpPr/>
          <p:nvPr/>
        </p:nvSpPr>
        <p:spPr>
          <a:xfrm>
            <a:off x="2670048" y="2377440"/>
            <a:ext cx="118872" cy="109728"/>
          </a:xfrm>
          <a:prstGeom prst="chevron">
            <a:avLst>
              <a:gd fmla="val 50000" name="adj"/>
            </a:avLst>
          </a:prstGeom>
          <a:solidFill>
            <a:srgbClr val="2B6E9E"/>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773168" y="2377440"/>
            <a:ext cx="118872" cy="109728"/>
          </a:xfrm>
          <a:prstGeom prst="chevron">
            <a:avLst>
              <a:gd fmla="val 50000" name="adj"/>
            </a:avLst>
          </a:prstGeom>
          <a:solidFill>
            <a:srgbClr val="2B6E9E"/>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6876288" y="2377440"/>
            <a:ext cx="118872" cy="109728"/>
          </a:xfrm>
          <a:prstGeom prst="chevron">
            <a:avLst>
              <a:gd fmla="val 50000" name="adj"/>
            </a:avLst>
          </a:prstGeom>
          <a:solidFill>
            <a:srgbClr val="2B6E9E"/>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8979408" y="2377440"/>
            <a:ext cx="118872" cy="109728"/>
          </a:xfrm>
          <a:prstGeom prst="chevron">
            <a:avLst>
              <a:gd fmla="val 50000" name="adj"/>
            </a:avLst>
          </a:prstGeom>
          <a:solidFill>
            <a:srgbClr val="2B6E9E"/>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713232" y="3794760"/>
            <a:ext cx="10972800" cy="1600200"/>
          </a:xfrm>
          <a:prstGeom prst="roundRect">
            <a:avLst>
              <a:gd fmla="val 4571"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877824" y="3904488"/>
            <a:ext cx="1064361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Narration cues</a:t>
            </a:r>
            <a:endParaRPr b="0" i="0" sz="1150" u="none" cap="none" strike="noStrike">
              <a:solidFill>
                <a:schemeClr val="dk1"/>
              </a:solidFill>
              <a:latin typeface="Arial"/>
              <a:ea typeface="Arial"/>
              <a:cs typeface="Arial"/>
              <a:sym typeface="Arial"/>
            </a:endParaRPr>
          </a:p>
        </p:txBody>
      </p:sp>
      <p:sp>
        <p:nvSpPr>
          <p:cNvPr id="73" name="Google Shape;73;p6"/>
          <p:cNvSpPr/>
          <p:nvPr/>
        </p:nvSpPr>
        <p:spPr>
          <a:xfrm>
            <a:off x="914400" y="4160520"/>
            <a:ext cx="10515600" cy="100584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350"/>
              <a:buFont typeface="Arial"/>
              <a:buNone/>
            </a:pPr>
            <a:r>
              <a:rPr b="1" i="0" lang="en-US" sz="1350" u="none" cap="none" strike="noStrike">
                <a:solidFill>
                  <a:srgbClr val="2AE68B"/>
                </a:solidFill>
                <a:latin typeface="Arial"/>
                <a:ea typeface="Arial"/>
                <a:cs typeface="Arial"/>
                <a:sym typeface="Arial"/>
              </a:rPr>
              <a:t>• </a:t>
            </a:r>
            <a:r>
              <a:rPr b="0" i="0" lang="en-US" sz="1350" u="none" cap="none" strike="noStrike">
                <a:solidFill>
                  <a:srgbClr val="F4F8FC"/>
                </a:solidFill>
                <a:latin typeface="Arial"/>
                <a:ea typeface="Arial"/>
                <a:cs typeface="Arial"/>
                <a:sym typeface="Arial"/>
              </a:rPr>
              <a:t>Show the deposit screen and explain this is wallet-funded value entering the cashier system.</a:t>
            </a:r>
            <a:br>
              <a:rPr b="0" i="0" lang="en-US" sz="1350" u="none" cap="none" strike="noStrike">
                <a:solidFill>
                  <a:srgbClr val="F4F8FC"/>
                </a:solidFill>
                <a:latin typeface="Arial"/>
                <a:ea typeface="Arial"/>
                <a:cs typeface="Arial"/>
                <a:sym typeface="Arial"/>
              </a:rPr>
            </a:br>
            <a:r>
              <a:rPr b="1" i="0" lang="en-US" sz="1350" u="none" cap="none" strike="noStrike">
                <a:solidFill>
                  <a:srgbClr val="2AE68B"/>
                </a:solidFill>
                <a:latin typeface="Arial"/>
                <a:ea typeface="Arial"/>
                <a:cs typeface="Arial"/>
                <a:sym typeface="Arial"/>
              </a:rPr>
              <a:t>• </a:t>
            </a:r>
            <a:r>
              <a:rPr b="0" i="0" lang="en-US" sz="1350" u="none" cap="none" strike="noStrike">
                <a:solidFill>
                  <a:srgbClr val="F4F8FC"/>
                </a:solidFill>
                <a:latin typeface="Arial"/>
                <a:ea typeface="Arial"/>
                <a:cs typeface="Arial"/>
                <a:sym typeface="Arial"/>
              </a:rPr>
              <a:t>Call out that the ledger gives users visibility into account activity, not just raw wallet events.</a:t>
            </a:r>
            <a:br>
              <a:rPr b="0" i="0" lang="en-US" sz="1350" u="none" cap="none" strike="noStrike">
                <a:solidFill>
                  <a:srgbClr val="F4F8FC"/>
                </a:solidFill>
                <a:latin typeface="Arial"/>
                <a:ea typeface="Arial"/>
                <a:cs typeface="Arial"/>
                <a:sym typeface="Arial"/>
              </a:rPr>
            </a:br>
            <a:r>
              <a:rPr b="1" i="0" lang="en-US" sz="1350" u="none" cap="none" strike="noStrike">
                <a:solidFill>
                  <a:srgbClr val="2AE68B"/>
                </a:solidFill>
                <a:latin typeface="Arial"/>
                <a:ea typeface="Arial"/>
                <a:cs typeface="Arial"/>
                <a:sym typeface="Arial"/>
              </a:rPr>
              <a:t>• </a:t>
            </a:r>
            <a:r>
              <a:rPr b="0" i="0" lang="en-US" sz="1350" u="none" cap="none" strike="noStrike">
                <a:solidFill>
                  <a:srgbClr val="F4F8FC"/>
                </a:solidFill>
                <a:latin typeface="Arial"/>
                <a:ea typeface="Arial"/>
                <a:cs typeface="Arial"/>
                <a:sym typeface="Arial"/>
              </a:rPr>
              <a:t>Reinforce that the same balance can later be used by multiple modules.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7"/>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Dice demo: credited gameplay, not one wallet prompt per round</a:t>
            </a:r>
            <a:endParaRPr b="0" i="0" sz="2400" u="none" cap="none" strike="noStrike">
              <a:solidFill>
                <a:schemeClr val="dk1"/>
              </a:solidFill>
              <a:latin typeface="Arial"/>
              <a:ea typeface="Arial"/>
              <a:cs typeface="Arial"/>
              <a:sym typeface="Arial"/>
            </a:endParaRPr>
          </a:p>
        </p:txBody>
      </p:sp>
      <p:sp>
        <p:nvSpPr>
          <p:cNvPr id="80" name="Google Shape;80;p7"/>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This is the clearest proof of smoother monetised web3 gameplay</a:t>
            </a:r>
            <a:endParaRPr b="0" i="0" sz="1120" u="none" cap="none" strike="noStrike">
              <a:solidFill>
                <a:schemeClr val="dk1"/>
              </a:solidFill>
              <a:latin typeface="Arial"/>
              <a:ea typeface="Arial"/>
              <a:cs typeface="Arial"/>
              <a:sym typeface="Arial"/>
            </a:endParaRPr>
          </a:p>
        </p:txBody>
      </p:sp>
      <p:sp>
        <p:nvSpPr>
          <p:cNvPr id="81" name="Google Shape;81;p7"/>
          <p:cNvSpPr/>
          <p:nvPr/>
        </p:nvSpPr>
        <p:spPr>
          <a:xfrm>
            <a:off x="658368" y="1463040"/>
            <a:ext cx="5120640" cy="4526280"/>
          </a:xfrm>
          <a:prstGeom prst="roundRect">
            <a:avLst>
              <a:gd fmla="val 1616"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822960" y="1572768"/>
            <a:ext cx="479145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What to show on screen</a:t>
            </a:r>
            <a:endParaRPr b="0" i="0" sz="1150" u="none" cap="none" strike="noStrike">
              <a:solidFill>
                <a:schemeClr val="dk1"/>
              </a:solidFill>
              <a:latin typeface="Arial"/>
              <a:ea typeface="Arial"/>
              <a:cs typeface="Arial"/>
              <a:sym typeface="Arial"/>
            </a:endParaRPr>
          </a:p>
        </p:txBody>
      </p:sp>
      <p:sp>
        <p:nvSpPr>
          <p:cNvPr id="83" name="Google Shape;83;p7"/>
          <p:cNvSpPr/>
          <p:nvPr/>
        </p:nvSpPr>
        <p:spPr>
          <a:xfrm>
            <a:off x="868680" y="1828800"/>
            <a:ext cx="4709160" cy="269748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450"/>
              <a:buFont typeface="Arial"/>
              <a:buNone/>
            </a:pP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Open the dice page and explain that gameplay spends from cashier balance.</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Run a few browser tests to show play, win, and lose outcomes.</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Point to balance changes and ledger entries after each result.</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Explain that the user still authorises through web3, but the gameplay loop feels much smoother.</a:t>
            </a:r>
            <a:endParaRPr b="0" i="0" sz="1450" u="none" cap="none" strike="noStrike">
              <a:solidFill>
                <a:schemeClr val="dk1"/>
              </a:solidFill>
              <a:latin typeface="Arial"/>
              <a:ea typeface="Arial"/>
              <a:cs typeface="Arial"/>
              <a:sym typeface="Arial"/>
            </a:endParaRPr>
          </a:p>
        </p:txBody>
      </p:sp>
      <p:sp>
        <p:nvSpPr>
          <p:cNvPr id="84" name="Google Shape;84;p7"/>
          <p:cNvSpPr/>
          <p:nvPr/>
        </p:nvSpPr>
        <p:spPr>
          <a:xfrm>
            <a:off x="5989320" y="1463040"/>
            <a:ext cx="5532120" cy="4526280"/>
          </a:xfrm>
          <a:prstGeom prst="roundRect">
            <a:avLst>
              <a:gd fmla="val 1616"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6153912" y="1572768"/>
            <a:ext cx="52029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Why this matters</a:t>
            </a:r>
            <a:endParaRPr b="0" i="0" sz="1150" u="none" cap="none" strike="noStrike">
              <a:solidFill>
                <a:schemeClr val="dk1"/>
              </a:solidFill>
              <a:latin typeface="Arial"/>
              <a:ea typeface="Arial"/>
              <a:cs typeface="Arial"/>
              <a:sym typeface="Arial"/>
            </a:endParaRPr>
          </a:p>
        </p:txBody>
      </p:sp>
      <p:sp>
        <p:nvSpPr>
          <p:cNvPr id="86" name="Google Shape;86;p7"/>
          <p:cNvSpPr/>
          <p:nvPr/>
        </p:nvSpPr>
        <p:spPr>
          <a:xfrm>
            <a:off x="6217920" y="1828800"/>
            <a:ext cx="4983480" cy="233172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450"/>
              <a:buFont typeface="Arial"/>
              <a:buNone/>
            </a:pP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Developers can build mini-games faster with a reusable spend and settlement layer.</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Users get a cleaner experience for repeated actions and rewards.</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The same pattern can support weekly leaderboards, tournaments, and other balance-backed game modes.</a:t>
            </a:r>
            <a:endParaRPr b="0" i="0" sz="1450" u="none" cap="none" strike="noStrike">
              <a:solidFill>
                <a:schemeClr val="dk1"/>
              </a:solidFill>
              <a:latin typeface="Arial"/>
              <a:ea typeface="Arial"/>
              <a:cs typeface="Arial"/>
              <a:sym typeface="Arial"/>
            </a:endParaRPr>
          </a:p>
        </p:txBody>
      </p:sp>
      <p:sp>
        <p:nvSpPr>
          <p:cNvPr id="87" name="Google Shape;87;p7"/>
          <p:cNvSpPr/>
          <p:nvPr/>
        </p:nvSpPr>
        <p:spPr>
          <a:xfrm>
            <a:off x="6309360" y="4498848"/>
            <a:ext cx="4663440" cy="932688"/>
          </a:xfrm>
          <a:prstGeom prst="roundRect">
            <a:avLst>
              <a:gd fmla="val 6863" name="adj"/>
            </a:avLst>
          </a:prstGeom>
          <a:solidFill>
            <a:srgbClr val="12273F"/>
          </a:solidFill>
          <a:ln cap="flat" cmpd="sng" w="12700">
            <a:solidFill>
              <a:srgbClr val="FFD5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6510528" y="4690872"/>
            <a:ext cx="4279392"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F8FC"/>
              </a:buClr>
              <a:buSzPts val="1100"/>
              <a:buFont typeface="Arial"/>
              <a:buNone/>
            </a:pPr>
            <a:r>
              <a:rPr b="0" i="1" lang="en-US" sz="1100" u="none" cap="none" strike="noStrike">
                <a:solidFill>
                  <a:srgbClr val="F4F8FC"/>
                </a:solidFill>
                <a:latin typeface="Arial"/>
                <a:ea typeface="Arial"/>
                <a:cs typeface="Arial"/>
                <a:sym typeface="Arial"/>
              </a:rPr>
              <a:t>Talk track: “This is not just a dice page. It is proof that The Haus Cashier can make Avalanche gameplay easier to build, easier to monetise, and smoother for users to actually play.”</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Social modules: Telegram proves the cashier is modular</a:t>
            </a:r>
            <a:endParaRPr b="0" i="0" sz="2400" u="none" cap="none" strike="noStrike">
              <a:solidFill>
                <a:schemeClr val="dk1"/>
              </a:solidFill>
              <a:latin typeface="Arial"/>
              <a:ea typeface="Arial"/>
              <a:cs typeface="Arial"/>
              <a:sym typeface="Arial"/>
            </a:endParaRPr>
          </a:p>
        </p:txBody>
      </p:sp>
      <p:sp>
        <p:nvSpPr>
          <p:cNvPr id="95" name="Google Shape;95;p8"/>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The dapp is the main focus; Telegram is the secondary proof</a:t>
            </a:r>
            <a:endParaRPr b="0" i="0" sz="1120" u="none" cap="none" strike="noStrike">
              <a:solidFill>
                <a:schemeClr val="dk1"/>
              </a:solidFill>
              <a:latin typeface="Arial"/>
              <a:ea typeface="Arial"/>
              <a:cs typeface="Arial"/>
              <a:sym typeface="Arial"/>
            </a:endParaRPr>
          </a:p>
        </p:txBody>
      </p:sp>
      <p:sp>
        <p:nvSpPr>
          <p:cNvPr id="96" name="Google Shape;96;p8"/>
          <p:cNvSpPr/>
          <p:nvPr/>
        </p:nvSpPr>
        <p:spPr>
          <a:xfrm>
            <a:off x="658368" y="1645920"/>
            <a:ext cx="5303520" cy="4297680"/>
          </a:xfrm>
          <a:prstGeom prst="roundRect">
            <a:avLst>
              <a:gd fmla="val 170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822960" y="1755648"/>
            <a:ext cx="497433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Telegram module demonstrates</a:t>
            </a:r>
            <a:endParaRPr b="0" i="0" sz="1150" u="none" cap="none" strike="noStrike">
              <a:solidFill>
                <a:schemeClr val="dk1"/>
              </a:solidFill>
              <a:latin typeface="Arial"/>
              <a:ea typeface="Arial"/>
              <a:cs typeface="Arial"/>
              <a:sym typeface="Arial"/>
            </a:endParaRPr>
          </a:p>
        </p:txBody>
      </p:sp>
      <p:sp>
        <p:nvSpPr>
          <p:cNvPr id="98" name="Google Shape;98;p8"/>
          <p:cNvSpPr/>
          <p:nvPr/>
        </p:nvSpPr>
        <p:spPr>
          <a:xfrm>
            <a:off x="868680" y="1993392"/>
            <a:ext cx="4800600" cy="246888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430"/>
              <a:buFont typeface="Arial"/>
              <a:buNone/>
            </a:pP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Notifications for deposits, receipts, and balance-aware actions.</a:t>
            </a:r>
            <a:br>
              <a:rPr b="0" i="0" lang="en-US" sz="1430" u="none" cap="none" strike="noStrike">
                <a:solidFill>
                  <a:srgbClr val="F4F8FC"/>
                </a:solidFill>
                <a:latin typeface="Arial"/>
                <a:ea typeface="Arial"/>
                <a:cs typeface="Arial"/>
                <a:sym typeface="Arial"/>
              </a:rPr>
            </a:b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Wallet linking and user account registration flows.</a:t>
            </a:r>
            <a:br>
              <a:rPr b="0" i="0" lang="en-US" sz="1430" u="none" cap="none" strike="noStrike">
                <a:solidFill>
                  <a:srgbClr val="F4F8FC"/>
                </a:solidFill>
                <a:latin typeface="Arial"/>
                <a:ea typeface="Arial"/>
                <a:cs typeface="Arial"/>
                <a:sym typeface="Arial"/>
              </a:rPr>
            </a:b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Viewing balances and using commands without being forced back into the dapp for every action.</a:t>
            </a:r>
            <a:br>
              <a:rPr b="0" i="0" lang="en-US" sz="1430" u="none" cap="none" strike="noStrike">
                <a:solidFill>
                  <a:srgbClr val="F4F8FC"/>
                </a:solidFill>
                <a:latin typeface="Arial"/>
                <a:ea typeface="Arial"/>
                <a:cs typeface="Arial"/>
                <a:sym typeface="Arial"/>
              </a:rPr>
            </a:b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A second interface into the same cashier system.</a:t>
            </a:r>
            <a:endParaRPr b="0" i="0" sz="1430" u="none" cap="none" strike="noStrike">
              <a:solidFill>
                <a:schemeClr val="dk1"/>
              </a:solidFill>
              <a:latin typeface="Arial"/>
              <a:ea typeface="Arial"/>
              <a:cs typeface="Arial"/>
              <a:sym typeface="Arial"/>
            </a:endParaRPr>
          </a:p>
        </p:txBody>
      </p:sp>
      <p:sp>
        <p:nvSpPr>
          <p:cNvPr id="99" name="Google Shape;99;p8"/>
          <p:cNvSpPr/>
          <p:nvPr/>
        </p:nvSpPr>
        <p:spPr>
          <a:xfrm>
            <a:off x="6126480" y="1645920"/>
            <a:ext cx="5394960" cy="4297680"/>
          </a:xfrm>
          <a:prstGeom prst="roundRect">
            <a:avLst>
              <a:gd fmla="val 170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6291072" y="1755648"/>
            <a:ext cx="506577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Why this is valuable</a:t>
            </a:r>
            <a:endParaRPr b="0" i="0" sz="1150" u="none" cap="none" strike="noStrike">
              <a:solidFill>
                <a:schemeClr val="dk1"/>
              </a:solidFill>
              <a:latin typeface="Arial"/>
              <a:ea typeface="Arial"/>
              <a:cs typeface="Arial"/>
              <a:sym typeface="Arial"/>
            </a:endParaRPr>
          </a:p>
        </p:txBody>
      </p:sp>
      <p:sp>
        <p:nvSpPr>
          <p:cNvPr id="101" name="Google Shape;101;p8"/>
          <p:cNvSpPr/>
          <p:nvPr/>
        </p:nvSpPr>
        <p:spPr>
          <a:xfrm>
            <a:off x="6355080" y="1993392"/>
            <a:ext cx="4800600" cy="224028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430"/>
              <a:buFont typeface="Arial"/>
              <a:buNone/>
            </a:pP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Communities already live in chats and social apps.</a:t>
            </a:r>
            <a:br>
              <a:rPr b="0" i="0" lang="en-US" sz="1430" u="none" cap="none" strike="noStrike">
                <a:solidFill>
                  <a:srgbClr val="F4F8FC"/>
                </a:solidFill>
                <a:latin typeface="Arial"/>
                <a:ea typeface="Arial"/>
                <a:cs typeface="Arial"/>
                <a:sym typeface="Arial"/>
              </a:rPr>
            </a:b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A cashier that only works in one browser page misses major real-world usage.</a:t>
            </a:r>
            <a:br>
              <a:rPr b="0" i="0" lang="en-US" sz="1430" u="none" cap="none" strike="noStrike">
                <a:solidFill>
                  <a:srgbClr val="F4F8FC"/>
                </a:solidFill>
                <a:latin typeface="Arial"/>
                <a:ea typeface="Arial"/>
                <a:cs typeface="Arial"/>
                <a:sym typeface="Arial"/>
              </a:rPr>
            </a:br>
            <a:r>
              <a:rPr b="1" i="0" lang="en-US" sz="1430" u="none" cap="none" strike="noStrike">
                <a:solidFill>
                  <a:srgbClr val="2AE68B"/>
                </a:solidFill>
                <a:latin typeface="Arial"/>
                <a:ea typeface="Arial"/>
                <a:cs typeface="Arial"/>
                <a:sym typeface="Arial"/>
              </a:rPr>
              <a:t>• </a:t>
            </a:r>
            <a:r>
              <a:rPr b="0" i="0" lang="en-US" sz="1430" u="none" cap="none" strike="noStrike">
                <a:solidFill>
                  <a:srgbClr val="F4F8FC"/>
                </a:solidFill>
                <a:latin typeface="Arial"/>
                <a:ea typeface="Arial"/>
                <a:cs typeface="Arial"/>
                <a:sym typeface="Arial"/>
              </a:rPr>
              <a:t>The same vault-backed balance model can support social spending, admin tools, and community games.</a:t>
            </a:r>
            <a:endParaRPr b="0" i="0" sz="1430" u="none" cap="none" strike="noStrike">
              <a:solidFill>
                <a:schemeClr val="dk1"/>
              </a:solidFill>
              <a:latin typeface="Arial"/>
              <a:ea typeface="Arial"/>
              <a:cs typeface="Arial"/>
              <a:sym typeface="Arial"/>
            </a:endParaRPr>
          </a:p>
        </p:txBody>
      </p:sp>
      <p:sp>
        <p:nvSpPr>
          <p:cNvPr id="102" name="Google Shape;102;p8"/>
          <p:cNvSpPr/>
          <p:nvPr/>
        </p:nvSpPr>
        <p:spPr>
          <a:xfrm>
            <a:off x="6400800" y="4828032"/>
            <a:ext cx="4754880" cy="731520"/>
          </a:xfrm>
          <a:prstGeom prst="roundRect">
            <a:avLst>
              <a:gd fmla="val 8750" name="adj"/>
            </a:avLst>
          </a:prstGeom>
          <a:solidFill>
            <a:srgbClr val="12273F"/>
          </a:solidFill>
          <a:ln cap="flat" cmpd="sng" w="12700">
            <a:solidFill>
              <a:srgbClr val="2AE6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6583680" y="5010912"/>
            <a:ext cx="438912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F8FC"/>
              </a:buClr>
              <a:buSzPts val="1080"/>
              <a:buFont typeface="Arial"/>
              <a:buNone/>
            </a:pPr>
            <a:r>
              <a:rPr b="1" i="0" lang="en-US" sz="1080" u="none" cap="none" strike="noStrike">
                <a:solidFill>
                  <a:srgbClr val="F4F8FC"/>
                </a:solidFill>
                <a:latin typeface="Arial"/>
                <a:ea typeface="Arial"/>
                <a:cs typeface="Arial"/>
                <a:sym typeface="Arial"/>
              </a:rPr>
              <a:t>Secondary proof, not the core thesis: one cashier can power both the dapp and social interfaces.</a:t>
            </a:r>
            <a:endParaRPr b="0" i="0" sz="108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9"/>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Telegram examples: spend, lottery, admin, and balances</a:t>
            </a:r>
            <a:endParaRPr b="0" i="0" sz="2400" u="none" cap="none" strike="noStrike">
              <a:solidFill>
                <a:schemeClr val="dk1"/>
              </a:solidFill>
              <a:latin typeface="Arial"/>
              <a:ea typeface="Arial"/>
              <a:cs typeface="Arial"/>
              <a:sym typeface="Arial"/>
            </a:endParaRPr>
          </a:p>
        </p:txBody>
      </p:sp>
      <p:sp>
        <p:nvSpPr>
          <p:cNvPr id="110" name="Google Shape;110;p9"/>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Concrete proof that the cashier can support more than a web page</a:t>
            </a:r>
            <a:endParaRPr b="0" i="0" sz="1120" u="none" cap="none" strike="noStrike">
              <a:solidFill>
                <a:schemeClr val="dk1"/>
              </a:solidFill>
              <a:latin typeface="Arial"/>
              <a:ea typeface="Arial"/>
              <a:cs typeface="Arial"/>
              <a:sym typeface="Arial"/>
            </a:endParaRPr>
          </a:p>
        </p:txBody>
      </p:sp>
      <p:sp>
        <p:nvSpPr>
          <p:cNvPr id="111" name="Google Shape;111;p9"/>
          <p:cNvSpPr/>
          <p:nvPr/>
        </p:nvSpPr>
        <p:spPr>
          <a:xfrm>
            <a:off x="658368" y="1554480"/>
            <a:ext cx="3520440" cy="3977640"/>
          </a:xfrm>
          <a:prstGeom prst="roundRect">
            <a:avLst>
              <a:gd fmla="val 2078"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822960" y="1664208"/>
            <a:ext cx="319125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Social spending</a:t>
            </a:r>
            <a:endParaRPr b="0" i="0" sz="1150" u="none" cap="none" strike="noStrike">
              <a:solidFill>
                <a:schemeClr val="dk1"/>
              </a:solidFill>
              <a:latin typeface="Arial"/>
              <a:ea typeface="Arial"/>
              <a:cs typeface="Arial"/>
              <a:sym typeface="Arial"/>
            </a:endParaRPr>
          </a:p>
        </p:txBody>
      </p:sp>
      <p:sp>
        <p:nvSpPr>
          <p:cNvPr id="113" name="Google Shape;113;p9"/>
          <p:cNvSpPr/>
          <p:nvPr/>
        </p:nvSpPr>
        <p:spPr>
          <a:xfrm>
            <a:off x="868680" y="1901952"/>
            <a:ext cx="3063240" cy="178308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380"/>
              <a:buFont typeface="Arial"/>
              <a:buNone/>
            </a:pP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Gift user / tipping flows from credited balances.</a:t>
            </a:r>
            <a:br>
              <a:rPr b="0" i="0" lang="en-US" sz="1380" u="none" cap="none" strike="noStrike">
                <a:solidFill>
                  <a:srgbClr val="F4F8FC"/>
                </a:solidFill>
                <a:latin typeface="Arial"/>
                <a:ea typeface="Arial"/>
                <a:cs typeface="Arial"/>
                <a:sym typeface="Arial"/>
              </a:rPr>
            </a:b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Balance checks and activity messages.</a:t>
            </a:r>
            <a:br>
              <a:rPr b="0" i="0" lang="en-US" sz="1380" u="none" cap="none" strike="noStrike">
                <a:solidFill>
                  <a:srgbClr val="F4F8FC"/>
                </a:solidFill>
                <a:latin typeface="Arial"/>
                <a:ea typeface="Arial"/>
                <a:cs typeface="Arial"/>
                <a:sym typeface="Arial"/>
              </a:rPr>
            </a:b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Notifications when value is received or spent.</a:t>
            </a:r>
            <a:endParaRPr b="0" i="0" sz="1380" u="none" cap="none" strike="noStrike">
              <a:solidFill>
                <a:schemeClr val="dk1"/>
              </a:solidFill>
              <a:latin typeface="Arial"/>
              <a:ea typeface="Arial"/>
              <a:cs typeface="Arial"/>
              <a:sym typeface="Arial"/>
            </a:endParaRPr>
          </a:p>
        </p:txBody>
      </p:sp>
      <p:sp>
        <p:nvSpPr>
          <p:cNvPr id="114" name="Google Shape;114;p9"/>
          <p:cNvSpPr/>
          <p:nvPr/>
        </p:nvSpPr>
        <p:spPr>
          <a:xfrm>
            <a:off x="4325112" y="1554480"/>
            <a:ext cx="3520440" cy="3977640"/>
          </a:xfrm>
          <a:prstGeom prst="roundRect">
            <a:avLst>
              <a:gd fmla="val 2078"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4489704" y="1664208"/>
            <a:ext cx="319125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Lottery example</a:t>
            </a:r>
            <a:endParaRPr b="0" i="0" sz="1150" u="none" cap="none" strike="noStrike">
              <a:solidFill>
                <a:schemeClr val="dk1"/>
              </a:solidFill>
              <a:latin typeface="Arial"/>
              <a:ea typeface="Arial"/>
              <a:cs typeface="Arial"/>
              <a:sym typeface="Arial"/>
            </a:endParaRPr>
          </a:p>
        </p:txBody>
      </p:sp>
      <p:sp>
        <p:nvSpPr>
          <p:cNvPr id="116" name="Google Shape;116;p9"/>
          <p:cNvSpPr/>
          <p:nvPr/>
        </p:nvSpPr>
        <p:spPr>
          <a:xfrm>
            <a:off x="4544568" y="1901952"/>
            <a:ext cx="3017520" cy="182880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380"/>
              <a:buFont typeface="Arial"/>
              <a:buNone/>
            </a:pP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Buy tickets directly from social commands.</a:t>
            </a:r>
            <a:br>
              <a:rPr b="0" i="0" lang="en-US" sz="1380" u="none" cap="none" strike="noStrike">
                <a:solidFill>
                  <a:srgbClr val="F4F8FC"/>
                </a:solidFill>
                <a:latin typeface="Arial"/>
                <a:ea typeface="Arial"/>
                <a:cs typeface="Arial"/>
                <a:sym typeface="Arial"/>
              </a:rPr>
            </a:b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Debit from credited balance, not a new wallet transaction every time.</a:t>
            </a:r>
            <a:br>
              <a:rPr b="0" i="0" lang="en-US" sz="1380" u="none" cap="none" strike="noStrike">
                <a:solidFill>
                  <a:srgbClr val="F4F8FC"/>
                </a:solidFill>
                <a:latin typeface="Arial"/>
                <a:ea typeface="Arial"/>
                <a:cs typeface="Arial"/>
                <a:sym typeface="Arial"/>
              </a:rPr>
            </a:b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Credit winnings back into the cashier balance.</a:t>
            </a:r>
            <a:endParaRPr b="0" i="0" sz="1380" u="none" cap="none" strike="noStrike">
              <a:solidFill>
                <a:schemeClr val="dk1"/>
              </a:solidFill>
              <a:latin typeface="Arial"/>
              <a:ea typeface="Arial"/>
              <a:cs typeface="Arial"/>
              <a:sym typeface="Arial"/>
            </a:endParaRPr>
          </a:p>
        </p:txBody>
      </p:sp>
      <p:sp>
        <p:nvSpPr>
          <p:cNvPr id="117" name="Google Shape;117;p9"/>
          <p:cNvSpPr/>
          <p:nvPr/>
        </p:nvSpPr>
        <p:spPr>
          <a:xfrm>
            <a:off x="7991856" y="1554480"/>
            <a:ext cx="3520440" cy="3977640"/>
          </a:xfrm>
          <a:prstGeom prst="roundRect">
            <a:avLst>
              <a:gd fmla="val 2078"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8156448" y="1664208"/>
            <a:ext cx="319125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Admin + treasury</a:t>
            </a:r>
            <a:endParaRPr b="0" i="0" sz="1150" u="none" cap="none" strike="noStrike">
              <a:solidFill>
                <a:schemeClr val="dk1"/>
              </a:solidFill>
              <a:latin typeface="Arial"/>
              <a:ea typeface="Arial"/>
              <a:cs typeface="Arial"/>
              <a:sym typeface="Arial"/>
            </a:endParaRPr>
          </a:p>
        </p:txBody>
      </p:sp>
      <p:sp>
        <p:nvSpPr>
          <p:cNvPr id="119" name="Google Shape;119;p9"/>
          <p:cNvSpPr/>
          <p:nvPr/>
        </p:nvSpPr>
        <p:spPr>
          <a:xfrm>
            <a:off x="8211312" y="1901952"/>
            <a:ext cx="3017520" cy="192024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380"/>
              <a:buFont typeface="Arial"/>
              <a:buNone/>
            </a:pP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Show main admin, treasuries, and operational visibility.</a:t>
            </a:r>
            <a:br>
              <a:rPr b="0" i="0" lang="en-US" sz="1380" u="none" cap="none" strike="noStrike">
                <a:solidFill>
                  <a:srgbClr val="F4F8FC"/>
                </a:solidFill>
                <a:latin typeface="Arial"/>
                <a:ea typeface="Arial"/>
                <a:cs typeface="Arial"/>
                <a:sym typeface="Arial"/>
              </a:rPr>
            </a:b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Support system management outside only contracts or the dapp.</a:t>
            </a:r>
            <a:br>
              <a:rPr b="0" i="0" lang="en-US" sz="1380" u="none" cap="none" strike="noStrike">
                <a:solidFill>
                  <a:srgbClr val="F4F8FC"/>
                </a:solidFill>
                <a:latin typeface="Arial"/>
                <a:ea typeface="Arial"/>
                <a:cs typeface="Arial"/>
                <a:sym typeface="Arial"/>
              </a:rPr>
            </a:br>
            <a:r>
              <a:rPr b="1" i="0" lang="en-US" sz="1380" u="none" cap="none" strike="noStrike">
                <a:solidFill>
                  <a:srgbClr val="2AE68B"/>
                </a:solidFill>
                <a:latin typeface="Arial"/>
                <a:ea typeface="Arial"/>
                <a:cs typeface="Arial"/>
                <a:sym typeface="Arial"/>
              </a:rPr>
              <a:t>• </a:t>
            </a:r>
            <a:r>
              <a:rPr b="0" i="0" lang="en-US" sz="1380" u="none" cap="none" strike="noStrike">
                <a:solidFill>
                  <a:srgbClr val="F4F8FC"/>
                </a:solidFill>
                <a:latin typeface="Arial"/>
                <a:ea typeface="Arial"/>
                <a:cs typeface="Arial"/>
                <a:sym typeface="Arial"/>
              </a:rPr>
              <a:t>More usable operations for communities and future modules.</a:t>
            </a:r>
            <a:endParaRPr b="0" i="0" sz="1380" u="none" cap="none" strike="noStrike">
              <a:solidFill>
                <a:schemeClr val="dk1"/>
              </a:solidFill>
              <a:latin typeface="Arial"/>
              <a:ea typeface="Arial"/>
              <a:cs typeface="Arial"/>
              <a:sym typeface="Arial"/>
            </a:endParaRPr>
          </a:p>
        </p:txBody>
      </p:sp>
      <p:sp>
        <p:nvSpPr>
          <p:cNvPr id="120" name="Google Shape;120;p9"/>
          <p:cNvSpPr/>
          <p:nvPr/>
        </p:nvSpPr>
        <p:spPr>
          <a:xfrm>
            <a:off x="841248" y="5742432"/>
            <a:ext cx="10515600" cy="201168"/>
          </a:xfrm>
          <a:prstGeom prst="roundRect">
            <a:avLst>
              <a:gd fmla="val 36364" name="adj"/>
            </a:avLst>
          </a:prstGeom>
          <a:solidFill>
            <a:srgbClr val="11243B"/>
          </a:solidFill>
          <a:ln cap="flat" cmpd="sng" w="12700">
            <a:solidFill>
              <a:srgbClr val="66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1051560" y="5792724"/>
            <a:ext cx="10058400" cy="5486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D4FF"/>
              </a:buClr>
              <a:buSzPts val="1000"/>
              <a:buFont typeface="Arial"/>
              <a:buNone/>
            </a:pPr>
            <a:r>
              <a:rPr b="1" i="0" lang="en-US" sz="1000" u="none" cap="none" strike="noStrike">
                <a:solidFill>
                  <a:srgbClr val="66D4FF"/>
                </a:solidFill>
                <a:latin typeface="Arial"/>
                <a:ea typeface="Arial"/>
                <a:cs typeface="Arial"/>
                <a:sym typeface="Arial"/>
              </a:rPr>
              <a:t>Suggested live sequence: registration → balance command → gift user → lottery ticket purchase → mainadmin / treasuries</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0"/>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System architecture behind the MVP</a:t>
            </a:r>
            <a:endParaRPr b="0" i="0" sz="2400" u="none" cap="none" strike="noStrike">
              <a:solidFill>
                <a:schemeClr val="dk1"/>
              </a:solidFill>
              <a:latin typeface="Arial"/>
              <a:ea typeface="Arial"/>
              <a:cs typeface="Arial"/>
              <a:sym typeface="Arial"/>
            </a:endParaRPr>
          </a:p>
        </p:txBody>
      </p:sp>
      <p:sp>
        <p:nvSpPr>
          <p:cNvPr id="128" name="Google Shape;128;p10"/>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One cashier foundation, multiple interfaces and modules</a:t>
            </a:r>
            <a:endParaRPr b="0" i="0" sz="1120" u="none" cap="none" strike="noStrike">
              <a:solidFill>
                <a:schemeClr val="dk1"/>
              </a:solidFill>
              <a:latin typeface="Arial"/>
              <a:ea typeface="Arial"/>
              <a:cs typeface="Arial"/>
              <a:sym typeface="Arial"/>
            </a:endParaRPr>
          </a:p>
        </p:txBody>
      </p:sp>
      <p:pic>
        <p:nvPicPr>
          <p:cNvPr descr="/mnt/data/9df6480a-a846-4f85-9d16-ffbf3c1daa77.png" id="129" name="Google Shape;129;p10"/>
          <p:cNvPicPr preferRelativeResize="0"/>
          <p:nvPr/>
        </p:nvPicPr>
        <p:blipFill rotWithShape="1">
          <a:blip r:embed="rId3">
            <a:alphaModFix/>
          </a:blip>
          <a:srcRect b="0" l="0" r="0" t="0"/>
          <a:stretch/>
        </p:blipFill>
        <p:spPr>
          <a:xfrm>
            <a:off x="713232" y="1867376"/>
            <a:ext cx="6583680" cy="3626168"/>
          </a:xfrm>
          <a:prstGeom prst="rect">
            <a:avLst/>
          </a:prstGeom>
          <a:noFill/>
          <a:ln>
            <a:noFill/>
          </a:ln>
        </p:spPr>
      </p:pic>
      <p:sp>
        <p:nvSpPr>
          <p:cNvPr id="130" name="Google Shape;130;p10"/>
          <p:cNvSpPr/>
          <p:nvPr/>
        </p:nvSpPr>
        <p:spPr>
          <a:xfrm>
            <a:off x="7543800" y="1463040"/>
            <a:ext cx="3950208" cy="4480560"/>
          </a:xfrm>
          <a:prstGeom prst="roundRect">
            <a:avLst>
              <a:gd fmla="val 185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a:off x="7708392" y="1572768"/>
            <a:ext cx="3621024"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Architecture callouts</a:t>
            </a:r>
            <a:endParaRPr b="0" i="0" sz="1150" u="none" cap="none" strike="noStrike">
              <a:solidFill>
                <a:schemeClr val="dk1"/>
              </a:solidFill>
              <a:latin typeface="Arial"/>
              <a:ea typeface="Arial"/>
              <a:cs typeface="Arial"/>
              <a:sym typeface="Arial"/>
            </a:endParaRPr>
          </a:p>
        </p:txBody>
      </p:sp>
      <p:sp>
        <p:nvSpPr>
          <p:cNvPr id="132" name="Google Shape;132;p10"/>
          <p:cNvSpPr/>
          <p:nvPr/>
        </p:nvSpPr>
        <p:spPr>
          <a:xfrm>
            <a:off x="7726680" y="1847088"/>
            <a:ext cx="3520440" cy="269748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350"/>
              <a:buFont typeface="Arial"/>
              <a:buNone/>
            </a:pPr>
            <a:r>
              <a:rPr b="1" i="0" lang="en-US" sz="1350" u="none" cap="none" strike="noStrike">
                <a:solidFill>
                  <a:srgbClr val="2AE68B"/>
                </a:solidFill>
                <a:latin typeface="Arial"/>
                <a:ea typeface="Arial"/>
                <a:cs typeface="Arial"/>
                <a:sym typeface="Arial"/>
              </a:rPr>
              <a:t>• </a:t>
            </a:r>
            <a:r>
              <a:rPr b="0" i="0" lang="en-US" sz="1350" u="none" cap="none" strike="noStrike">
                <a:solidFill>
                  <a:srgbClr val="F4F8FC"/>
                </a:solidFill>
                <a:latin typeface="Arial"/>
                <a:ea typeface="Arial"/>
                <a:cs typeface="Arial"/>
                <a:sym typeface="Arial"/>
              </a:rPr>
              <a:t>Core API, tunnel, relayer, indexer, and DB-backed ledger support the user-facing flows.</a:t>
            </a:r>
            <a:br>
              <a:rPr b="0" i="0" lang="en-US" sz="1350" u="none" cap="none" strike="noStrike">
                <a:solidFill>
                  <a:srgbClr val="F4F8FC"/>
                </a:solidFill>
                <a:latin typeface="Arial"/>
                <a:ea typeface="Arial"/>
                <a:cs typeface="Arial"/>
                <a:sym typeface="Arial"/>
              </a:rPr>
            </a:br>
            <a:r>
              <a:rPr b="1" i="0" lang="en-US" sz="1350" u="none" cap="none" strike="noStrike">
                <a:solidFill>
                  <a:srgbClr val="2AE68B"/>
                </a:solidFill>
                <a:latin typeface="Arial"/>
                <a:ea typeface="Arial"/>
                <a:cs typeface="Arial"/>
                <a:sym typeface="Arial"/>
              </a:rPr>
              <a:t>• </a:t>
            </a:r>
            <a:r>
              <a:rPr b="0" i="0" lang="en-US" sz="1350" u="none" cap="none" strike="noStrike">
                <a:solidFill>
                  <a:srgbClr val="F4F8FC"/>
                </a:solidFill>
                <a:latin typeface="Arial"/>
                <a:ea typeface="Arial"/>
                <a:cs typeface="Arial"/>
                <a:sym typeface="Arial"/>
              </a:rPr>
              <a:t>Contracts and vaults hold the value layer while the cashier manages usable balances and settlement.</a:t>
            </a:r>
            <a:br>
              <a:rPr b="0" i="0" lang="en-US" sz="1350" u="none" cap="none" strike="noStrike">
                <a:solidFill>
                  <a:srgbClr val="F4F8FC"/>
                </a:solidFill>
                <a:latin typeface="Arial"/>
                <a:ea typeface="Arial"/>
                <a:cs typeface="Arial"/>
                <a:sym typeface="Arial"/>
              </a:rPr>
            </a:br>
            <a:r>
              <a:rPr b="1" i="0" lang="en-US" sz="1350" u="none" cap="none" strike="noStrike">
                <a:solidFill>
                  <a:srgbClr val="2AE68B"/>
                </a:solidFill>
                <a:latin typeface="Arial"/>
                <a:ea typeface="Arial"/>
                <a:cs typeface="Arial"/>
                <a:sym typeface="Arial"/>
              </a:rPr>
              <a:t>• </a:t>
            </a:r>
            <a:r>
              <a:rPr b="0" i="0" lang="en-US" sz="1350" u="none" cap="none" strike="noStrike">
                <a:solidFill>
                  <a:srgbClr val="F4F8FC"/>
                </a:solidFill>
                <a:latin typeface="Arial"/>
                <a:ea typeface="Arial"/>
                <a:cs typeface="Arial"/>
                <a:sym typeface="Arial"/>
              </a:rPr>
              <a:t>Modules can plug in on top: games, tipping, lottery, social tools, admin, and future SDK-driven apps.</a:t>
            </a:r>
            <a:endParaRPr b="0" i="0" sz="1350" u="none" cap="none" strike="noStrike">
              <a:solidFill>
                <a:schemeClr val="dk1"/>
              </a:solidFill>
              <a:latin typeface="Arial"/>
              <a:ea typeface="Arial"/>
              <a:cs typeface="Arial"/>
              <a:sym typeface="Arial"/>
            </a:endParaRPr>
          </a:p>
        </p:txBody>
      </p:sp>
      <p:sp>
        <p:nvSpPr>
          <p:cNvPr id="133" name="Google Shape;133;p10"/>
          <p:cNvSpPr/>
          <p:nvPr/>
        </p:nvSpPr>
        <p:spPr>
          <a:xfrm>
            <a:off x="7754112" y="4800600"/>
            <a:ext cx="3456432" cy="658368"/>
          </a:xfrm>
          <a:prstGeom prst="roundRect">
            <a:avLst>
              <a:gd fmla="val 9722" name="adj"/>
            </a:avLst>
          </a:prstGeom>
          <a:solidFill>
            <a:srgbClr val="12273F"/>
          </a:solidFill>
          <a:ln cap="flat" cmpd="sng" w="12700">
            <a:solidFill>
              <a:srgbClr val="66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
          <p:cNvSpPr/>
          <p:nvPr/>
        </p:nvSpPr>
        <p:spPr>
          <a:xfrm>
            <a:off x="7918704" y="5001768"/>
            <a:ext cx="3154680" cy="21945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F8FC"/>
              </a:buClr>
              <a:buSzPts val="1080"/>
              <a:buFont typeface="Arial"/>
              <a:buNone/>
            </a:pPr>
            <a:r>
              <a:rPr b="1" i="0" lang="en-US" sz="1080" u="none" cap="none" strike="noStrike">
                <a:solidFill>
                  <a:srgbClr val="F4F8FC"/>
                </a:solidFill>
                <a:latin typeface="Arial"/>
                <a:ea typeface="Arial"/>
                <a:cs typeface="Arial"/>
                <a:sym typeface="Arial"/>
              </a:rPr>
              <a:t>Talk track: the backend is not the public repo focus, but it is the reason the MVP is credible.</a:t>
            </a:r>
            <a:endParaRPr b="0" i="0" sz="108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p:nvPr/>
        </p:nvSpPr>
        <p:spPr>
          <a:xfrm>
            <a:off x="685800" y="566928"/>
            <a:ext cx="6858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F8FC"/>
              </a:buClr>
              <a:buSzPts val="2400"/>
              <a:buFont typeface="Play"/>
              <a:buNone/>
            </a:pPr>
            <a:r>
              <a:rPr b="1" i="0" lang="en-US" sz="2400" u="none" cap="none" strike="noStrike">
                <a:solidFill>
                  <a:srgbClr val="F4F8FC"/>
                </a:solidFill>
                <a:latin typeface="Play"/>
                <a:ea typeface="Play"/>
                <a:cs typeface="Play"/>
                <a:sym typeface="Play"/>
              </a:rPr>
              <a:t>Roadmap and closing</a:t>
            </a:r>
            <a:endParaRPr b="0" i="0" sz="2400" u="none" cap="none" strike="noStrike">
              <a:solidFill>
                <a:schemeClr val="dk1"/>
              </a:solidFill>
              <a:latin typeface="Arial"/>
              <a:ea typeface="Arial"/>
              <a:cs typeface="Arial"/>
              <a:sym typeface="Arial"/>
            </a:endParaRPr>
          </a:p>
        </p:txBody>
      </p:sp>
      <p:sp>
        <p:nvSpPr>
          <p:cNvPr id="141" name="Google Shape;141;p11"/>
          <p:cNvSpPr/>
          <p:nvPr/>
        </p:nvSpPr>
        <p:spPr>
          <a:xfrm>
            <a:off x="694944" y="1170432"/>
            <a:ext cx="7955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7E6"/>
              </a:buClr>
              <a:buSzPts val="1120"/>
              <a:buFont typeface="Arial"/>
              <a:buNone/>
            </a:pPr>
            <a:r>
              <a:rPr b="0" i="0" lang="en-US" sz="1120" u="none" cap="none" strike="noStrike">
                <a:solidFill>
                  <a:srgbClr val="C7D7E6"/>
                </a:solidFill>
                <a:latin typeface="Arial"/>
                <a:ea typeface="Arial"/>
                <a:cs typeface="Arial"/>
                <a:sym typeface="Arial"/>
              </a:rPr>
              <a:t>From Fuji MVP to multi-chain modules and an SDK layer</a:t>
            </a:r>
            <a:endParaRPr b="0" i="0" sz="1120" u="none" cap="none" strike="noStrike">
              <a:solidFill>
                <a:schemeClr val="dk1"/>
              </a:solidFill>
              <a:latin typeface="Arial"/>
              <a:ea typeface="Arial"/>
              <a:cs typeface="Arial"/>
              <a:sym typeface="Arial"/>
            </a:endParaRPr>
          </a:p>
        </p:txBody>
      </p:sp>
      <p:sp>
        <p:nvSpPr>
          <p:cNvPr id="142" name="Google Shape;142;p11"/>
          <p:cNvSpPr/>
          <p:nvPr/>
        </p:nvSpPr>
        <p:spPr>
          <a:xfrm>
            <a:off x="658368" y="1627632"/>
            <a:ext cx="5394960" cy="3886200"/>
          </a:xfrm>
          <a:prstGeom prst="roundRect">
            <a:avLst>
              <a:gd fmla="val 188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a:off x="822960" y="1737360"/>
            <a:ext cx="5065776"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Near-term expansion</a:t>
            </a:r>
            <a:endParaRPr b="0" i="0" sz="1150" u="none" cap="none" strike="noStrike">
              <a:solidFill>
                <a:schemeClr val="dk1"/>
              </a:solidFill>
              <a:latin typeface="Arial"/>
              <a:ea typeface="Arial"/>
              <a:cs typeface="Arial"/>
              <a:sym typeface="Arial"/>
            </a:endParaRPr>
          </a:p>
        </p:txBody>
      </p:sp>
      <p:sp>
        <p:nvSpPr>
          <p:cNvPr id="144" name="Google Shape;144;p11"/>
          <p:cNvSpPr/>
          <p:nvPr/>
        </p:nvSpPr>
        <p:spPr>
          <a:xfrm>
            <a:off x="896112" y="1993392"/>
            <a:ext cx="4800600" cy="210312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450"/>
              <a:buFont typeface="Arial"/>
              <a:buNone/>
            </a:pP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CCIP and future chain support using main vaults and expanded cashier rails.</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Token swap support and richer asset flows inside the broader system.</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More games, leaderboards, tournaments, and reusable module patterns.</a:t>
            </a:r>
            <a:endParaRPr b="0" i="0" sz="1450" u="none" cap="none" strike="noStrike">
              <a:solidFill>
                <a:schemeClr val="dk1"/>
              </a:solidFill>
              <a:latin typeface="Arial"/>
              <a:ea typeface="Arial"/>
              <a:cs typeface="Arial"/>
              <a:sym typeface="Arial"/>
            </a:endParaRPr>
          </a:p>
        </p:txBody>
      </p:sp>
      <p:sp>
        <p:nvSpPr>
          <p:cNvPr id="145" name="Google Shape;145;p11"/>
          <p:cNvSpPr/>
          <p:nvPr/>
        </p:nvSpPr>
        <p:spPr>
          <a:xfrm>
            <a:off x="6217920" y="1627632"/>
            <a:ext cx="5285232" cy="3886200"/>
          </a:xfrm>
          <a:prstGeom prst="roundRect">
            <a:avLst>
              <a:gd fmla="val 1882" name="adj"/>
            </a:avLst>
          </a:prstGeom>
          <a:solidFill>
            <a:srgbClr val="14304E">
              <a:alpha val="94901"/>
            </a:srgbClr>
          </a:solidFill>
          <a:ln cap="flat" cmpd="sng" w="12700">
            <a:solidFill>
              <a:srgbClr val="2B6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6382512" y="1737360"/>
            <a:ext cx="4956048"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D4FF"/>
              </a:buClr>
              <a:buSzPts val="1150"/>
              <a:buFont typeface="Arial"/>
              <a:buNone/>
            </a:pPr>
            <a:r>
              <a:rPr b="1" i="0" lang="en-US" sz="1150" u="none" cap="none" strike="noStrike">
                <a:solidFill>
                  <a:srgbClr val="66D4FF"/>
                </a:solidFill>
                <a:latin typeface="Arial"/>
                <a:ea typeface="Arial"/>
                <a:cs typeface="Arial"/>
                <a:sym typeface="Arial"/>
              </a:rPr>
              <a:t>Long-term vision</a:t>
            </a:r>
            <a:endParaRPr b="0" i="0" sz="1150" u="none" cap="none" strike="noStrike">
              <a:solidFill>
                <a:schemeClr val="dk1"/>
              </a:solidFill>
              <a:latin typeface="Arial"/>
              <a:ea typeface="Arial"/>
              <a:cs typeface="Arial"/>
              <a:sym typeface="Arial"/>
            </a:endParaRPr>
          </a:p>
        </p:txBody>
      </p:sp>
      <p:sp>
        <p:nvSpPr>
          <p:cNvPr id="147" name="Google Shape;147;p11"/>
          <p:cNvSpPr/>
          <p:nvPr/>
        </p:nvSpPr>
        <p:spPr>
          <a:xfrm>
            <a:off x="6455664" y="1993392"/>
            <a:ext cx="4736592" cy="2240280"/>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2AE68B"/>
              </a:buClr>
              <a:buSzPts val="1450"/>
              <a:buFont typeface="Arial"/>
              <a:buNone/>
            </a:pP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An SDK-style toolkit for building and deploying cashier-powered modules.</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Support for payment apps, dapps, social bots, mobile gaming, and utility products.</a:t>
            </a:r>
            <a:br>
              <a:rPr b="0" i="0" lang="en-US" sz="1450" u="none" cap="none" strike="noStrike">
                <a:solidFill>
                  <a:srgbClr val="F4F8FC"/>
                </a:solidFill>
                <a:latin typeface="Arial"/>
                <a:ea typeface="Arial"/>
                <a:cs typeface="Arial"/>
                <a:sym typeface="Arial"/>
              </a:rPr>
            </a:br>
            <a:r>
              <a:rPr b="1" i="0" lang="en-US" sz="1450" u="none" cap="none" strike="noStrike">
                <a:solidFill>
                  <a:srgbClr val="2AE68B"/>
                </a:solidFill>
                <a:latin typeface="Arial"/>
                <a:ea typeface="Arial"/>
                <a:cs typeface="Arial"/>
                <a:sym typeface="Arial"/>
              </a:rPr>
              <a:t>• </a:t>
            </a:r>
            <a:r>
              <a:rPr b="0" i="0" lang="en-US" sz="1450" u="none" cap="none" strike="noStrike">
                <a:solidFill>
                  <a:srgbClr val="F4F8FC"/>
                </a:solidFill>
                <a:latin typeface="Arial"/>
                <a:ea typeface="Arial"/>
                <a:cs typeface="Arial"/>
                <a:sym typeface="Arial"/>
              </a:rPr>
              <a:t>A cleaner way for builders to bring Avalanche-backed value into real user-facing software.</a:t>
            </a:r>
            <a:endParaRPr b="0" i="0" sz="1450" u="none" cap="none" strike="noStrike">
              <a:solidFill>
                <a:schemeClr val="dk1"/>
              </a:solidFill>
              <a:latin typeface="Arial"/>
              <a:ea typeface="Arial"/>
              <a:cs typeface="Arial"/>
              <a:sym typeface="Arial"/>
            </a:endParaRPr>
          </a:p>
        </p:txBody>
      </p:sp>
      <p:sp>
        <p:nvSpPr>
          <p:cNvPr id="148" name="Google Shape;148;p11"/>
          <p:cNvSpPr/>
          <p:nvPr/>
        </p:nvSpPr>
        <p:spPr>
          <a:xfrm>
            <a:off x="868680" y="5705856"/>
            <a:ext cx="10332720" cy="219456"/>
          </a:xfrm>
          <a:prstGeom prst="roundRect">
            <a:avLst>
              <a:gd fmla="val 33333" name="adj"/>
            </a:avLst>
          </a:prstGeom>
          <a:solidFill>
            <a:srgbClr val="14304E"/>
          </a:solidFill>
          <a:ln cap="flat" cmpd="sng" w="12700">
            <a:solidFill>
              <a:srgbClr val="2AE6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a:off x="1097280" y="5751576"/>
            <a:ext cx="9875520" cy="731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F8FC"/>
              </a:buClr>
              <a:buSzPts val="1010"/>
              <a:buFont typeface="Arial"/>
              <a:buNone/>
            </a:pPr>
            <a:r>
              <a:rPr b="1" i="0" lang="en-US" sz="1010" u="none" cap="none" strike="noStrike">
                <a:solidFill>
                  <a:srgbClr val="F4F8FC"/>
                </a:solidFill>
                <a:latin typeface="Arial"/>
                <a:ea typeface="Arial"/>
                <a:cs typeface="Arial"/>
                <a:sym typeface="Arial"/>
              </a:rPr>
              <a:t>Closing line: “The Haus Cashier makes Avalanche value easier to use inside games, apps, and social systems — and this MVP proves that path today on Fuji.”</a:t>
            </a:r>
            <a:endParaRPr b="0" i="0" sz="101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